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0" r:id="rId2"/>
    <p:sldId id="269" r:id="rId3"/>
    <p:sldId id="261" r:id="rId4"/>
    <p:sldId id="264" r:id="rId5"/>
    <p:sldId id="267" r:id="rId6"/>
  </p:sldIdLst>
  <p:sldSz cx="13314363" cy="93630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79B4"/>
    <a:srgbClr val="D1EBEB"/>
    <a:srgbClr val="3477B7"/>
    <a:srgbClr val="ED684B"/>
    <a:srgbClr val="FFFFFF"/>
    <a:srgbClr val="C45235"/>
    <a:srgbClr val="EBECF1"/>
    <a:srgbClr val="E0F3F3"/>
    <a:srgbClr val="E6E1F5"/>
    <a:srgbClr val="D8D5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4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3EE033-0A9A-4FFB-8C22-9CC22066139D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35075" y="1143000"/>
            <a:ext cx="43878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4F34-8422-4E70-8C2F-72A3C7E035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763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4F34-8422-4E70-8C2F-72A3C7E035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364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E0577-83DB-0A60-8FD2-E61C4A1E1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0030 Editable rectangle">
            <a:extLst>
              <a:ext uri="{FF2B5EF4-FFF2-40B4-BE49-F238E27FC236}">
                <a16:creationId xmlns:a16="http://schemas.microsoft.com/office/drawing/2014/main" id="{17F7EA17-921B-84FB-B9A3-57A996A06136}"/>
              </a:ext>
            </a:extLst>
          </p:cNvPr>
          <p:cNvSpPr>
            <a:spLocks noGrp="1"/>
          </p:cNvSpPr>
          <p:nvPr/>
        </p:nvSpPr>
        <p:spPr>
          <a:xfrm>
            <a:off x="451465" y="2483613"/>
            <a:ext cx="4447370" cy="1387650"/>
          </a:xfrm>
          <a:prstGeom prst="roundRect">
            <a:avLst>
              <a:gd name="adj" fmla="val 2941"/>
            </a:avLst>
          </a:prstGeom>
          <a:solidFill>
            <a:srgbClr val="E0F3F3"/>
          </a:solidFill>
          <a:ln w="17145">
            <a:solidFill>
              <a:srgbClr val="078E87"/>
            </a:solidFill>
            <a:prstDash val="solid"/>
          </a:ln>
        </p:spPr>
      </p:sp>
      <p:sp>
        <p:nvSpPr>
          <p:cNvPr id="5" name="0004 Editable rectangle">
            <a:extLst>
              <a:ext uri="{FF2B5EF4-FFF2-40B4-BE49-F238E27FC236}">
                <a16:creationId xmlns:a16="http://schemas.microsoft.com/office/drawing/2014/main" id="{C9C2D5F4-EA50-CED8-FC6B-C4B923C88A7A}"/>
              </a:ext>
            </a:extLst>
          </p:cNvPr>
          <p:cNvSpPr>
            <a:spLocks noGrp="1"/>
          </p:cNvSpPr>
          <p:nvPr/>
        </p:nvSpPr>
        <p:spPr>
          <a:xfrm>
            <a:off x="451464" y="642673"/>
            <a:ext cx="2200296" cy="1290902"/>
          </a:xfrm>
          <a:prstGeom prst="roundRect">
            <a:avLst>
              <a:gd name="adj" fmla="val 2956"/>
            </a:avLst>
          </a:prstGeom>
          <a:solidFill>
            <a:srgbClr val="E1EBF5"/>
          </a:solidFill>
          <a:ln w="17145">
            <a:solidFill>
              <a:srgbClr val="3477B7"/>
            </a:solidFill>
            <a:prstDash val="solid"/>
          </a:ln>
        </p:spPr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DBF31CB-ADFE-3078-A870-724CAEF94A51}"/>
              </a:ext>
            </a:extLst>
          </p:cNvPr>
          <p:cNvCxnSpPr>
            <a:cxnSpLocks/>
          </p:cNvCxnSpPr>
          <p:nvPr/>
        </p:nvCxnSpPr>
        <p:spPr>
          <a:xfrm>
            <a:off x="2651760" y="1261454"/>
            <a:ext cx="262890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0030 Editable rectangle">
            <a:extLst>
              <a:ext uri="{FF2B5EF4-FFF2-40B4-BE49-F238E27FC236}">
                <a16:creationId xmlns:a16="http://schemas.microsoft.com/office/drawing/2014/main" id="{68C361CC-4889-AE34-2C79-A094EF5B0D63}"/>
              </a:ext>
            </a:extLst>
          </p:cNvPr>
          <p:cNvSpPr>
            <a:spLocks noGrp="1"/>
          </p:cNvSpPr>
          <p:nvPr/>
        </p:nvSpPr>
        <p:spPr>
          <a:xfrm>
            <a:off x="2914650" y="642673"/>
            <a:ext cx="2200296" cy="1290895"/>
          </a:xfrm>
          <a:prstGeom prst="roundRect">
            <a:avLst>
              <a:gd name="adj" fmla="val 2941"/>
            </a:avLst>
          </a:prstGeom>
          <a:solidFill>
            <a:srgbClr val="E0F3F3"/>
          </a:solidFill>
          <a:ln w="17145">
            <a:solidFill>
              <a:srgbClr val="078E87"/>
            </a:solidFill>
            <a:prstDash val="solid"/>
          </a:ln>
        </p:spPr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B51632ED-AA08-36A2-B873-D2FAFB117294}"/>
              </a:ext>
            </a:extLst>
          </p:cNvPr>
          <p:cNvCxnSpPr>
            <a:cxnSpLocks/>
          </p:cNvCxnSpPr>
          <p:nvPr/>
        </p:nvCxnSpPr>
        <p:spPr>
          <a:xfrm>
            <a:off x="5114946" y="1260000"/>
            <a:ext cx="262890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0038 Editable rectangle">
            <a:extLst>
              <a:ext uri="{FF2B5EF4-FFF2-40B4-BE49-F238E27FC236}">
                <a16:creationId xmlns:a16="http://schemas.microsoft.com/office/drawing/2014/main" id="{E25F1E35-D158-692D-B5C2-C18C72868246}"/>
              </a:ext>
            </a:extLst>
          </p:cNvPr>
          <p:cNvSpPr>
            <a:spLocks noGrp="1"/>
          </p:cNvSpPr>
          <p:nvPr/>
        </p:nvSpPr>
        <p:spPr>
          <a:xfrm>
            <a:off x="5377835" y="642672"/>
            <a:ext cx="2390259" cy="1290877"/>
          </a:xfrm>
          <a:prstGeom prst="roundRect">
            <a:avLst>
              <a:gd name="adj" fmla="val 2941"/>
            </a:avLst>
          </a:prstGeom>
          <a:solidFill>
            <a:srgbClr val="FBE3DA"/>
          </a:solidFill>
          <a:ln w="17145">
            <a:solidFill>
              <a:srgbClr val="ED684B"/>
            </a:solidFill>
            <a:prstDash val="solid"/>
          </a:ln>
        </p:spPr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771CD4F-37D8-756B-FC6D-934B63346385}"/>
              </a:ext>
            </a:extLst>
          </p:cNvPr>
          <p:cNvCxnSpPr>
            <a:cxnSpLocks/>
          </p:cNvCxnSpPr>
          <p:nvPr/>
        </p:nvCxnSpPr>
        <p:spPr>
          <a:xfrm>
            <a:off x="9577167" y="2334798"/>
            <a:ext cx="5754" cy="334013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F3F1D0AF-8405-EBC0-A4BA-6A19DA2747DF}"/>
              </a:ext>
            </a:extLst>
          </p:cNvPr>
          <p:cNvCxnSpPr>
            <a:cxnSpLocks/>
          </p:cNvCxnSpPr>
          <p:nvPr/>
        </p:nvCxnSpPr>
        <p:spPr>
          <a:xfrm>
            <a:off x="8075054" y="1933549"/>
            <a:ext cx="262890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0081 Editable rectangle">
            <a:extLst>
              <a:ext uri="{FF2B5EF4-FFF2-40B4-BE49-F238E27FC236}">
                <a16:creationId xmlns:a16="http://schemas.microsoft.com/office/drawing/2014/main" id="{B3D9ADBD-FD31-F8F2-EC2D-6BB501DE7A10}"/>
              </a:ext>
            </a:extLst>
          </p:cNvPr>
          <p:cNvSpPr>
            <a:spLocks noGrp="1"/>
          </p:cNvSpPr>
          <p:nvPr/>
        </p:nvSpPr>
        <p:spPr>
          <a:xfrm>
            <a:off x="8339016" y="1475579"/>
            <a:ext cx="2710709" cy="840227"/>
          </a:xfrm>
          <a:prstGeom prst="roundRect">
            <a:avLst>
              <a:gd name="adj" fmla="val 4478"/>
            </a:avLst>
          </a:prstGeom>
          <a:solidFill>
            <a:srgbClr val="E6E1F5"/>
          </a:solidFill>
          <a:ln w="17145">
            <a:solidFill>
              <a:srgbClr val="8A79B4"/>
            </a:solidFill>
            <a:prstDash val="solid"/>
          </a:ln>
        </p:spPr>
      </p:sp>
      <p:sp>
        <p:nvSpPr>
          <p:cNvPr id="30" name="0097 Editable rectangle">
            <a:extLst>
              <a:ext uri="{FF2B5EF4-FFF2-40B4-BE49-F238E27FC236}">
                <a16:creationId xmlns:a16="http://schemas.microsoft.com/office/drawing/2014/main" id="{8F400C29-57BD-8865-3820-52344CD5B9F2}"/>
              </a:ext>
            </a:extLst>
          </p:cNvPr>
          <p:cNvSpPr>
            <a:spLocks noGrp="1"/>
          </p:cNvSpPr>
          <p:nvPr/>
        </p:nvSpPr>
        <p:spPr>
          <a:xfrm>
            <a:off x="8353013" y="2670119"/>
            <a:ext cx="2704992" cy="938693"/>
          </a:xfrm>
          <a:prstGeom prst="roundRect">
            <a:avLst>
              <a:gd name="adj" fmla="val 3727"/>
            </a:avLst>
          </a:prstGeom>
          <a:solidFill>
            <a:srgbClr val="EBECF1"/>
          </a:solidFill>
          <a:ln w="17145">
            <a:solidFill>
              <a:srgbClr val="A0A7B0"/>
            </a:solidFill>
            <a:prstDash val="solid"/>
          </a:ln>
        </p:spPr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2DDFE3E-873F-382F-8441-E1F472AD870F}"/>
              </a:ext>
            </a:extLst>
          </p:cNvPr>
          <p:cNvGrpSpPr/>
          <p:nvPr/>
        </p:nvGrpSpPr>
        <p:grpSpPr>
          <a:xfrm rot="5400000">
            <a:off x="3688258" y="251514"/>
            <a:ext cx="520066" cy="3903240"/>
            <a:chOff x="5806461" y="3452812"/>
            <a:chExt cx="520066" cy="1095375"/>
          </a:xfrm>
        </p:grpSpPr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5D9B6917-D3B4-9237-0706-6B9D4995FC1A}"/>
                </a:ext>
              </a:extLst>
            </p:cNvPr>
            <p:cNvCxnSpPr>
              <a:cxnSpLocks/>
            </p:cNvCxnSpPr>
            <p:nvPr/>
          </p:nvCxnSpPr>
          <p:spPr>
            <a:xfrm>
              <a:off x="5806461" y="4000500"/>
              <a:ext cx="257175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7117FF29-0188-EF14-2504-C74EC51CA2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63636" y="3452812"/>
              <a:ext cx="0" cy="1095375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E6B35B45-555E-E420-D0CC-48BDA2882964}"/>
                </a:ext>
              </a:extLst>
            </p:cNvPr>
            <p:cNvCxnSpPr>
              <a:cxnSpLocks/>
            </p:cNvCxnSpPr>
            <p:nvPr/>
          </p:nvCxnSpPr>
          <p:spPr>
            <a:xfrm>
              <a:off x="6063636" y="3452839"/>
              <a:ext cx="262890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A95BE69F-4E03-6828-565C-C2342A36A67A}"/>
                </a:ext>
              </a:extLst>
            </p:cNvPr>
            <p:cNvCxnSpPr>
              <a:cxnSpLocks/>
            </p:cNvCxnSpPr>
            <p:nvPr/>
          </p:nvCxnSpPr>
          <p:spPr>
            <a:xfrm>
              <a:off x="6063637" y="4544008"/>
              <a:ext cx="262890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0004 Editable rectangle">
            <a:extLst>
              <a:ext uri="{FF2B5EF4-FFF2-40B4-BE49-F238E27FC236}">
                <a16:creationId xmlns:a16="http://schemas.microsoft.com/office/drawing/2014/main" id="{90805EF6-0FE2-9016-3787-38291FA14CF6}"/>
              </a:ext>
            </a:extLst>
          </p:cNvPr>
          <p:cNvSpPr>
            <a:spLocks noGrp="1"/>
          </p:cNvSpPr>
          <p:nvPr/>
        </p:nvSpPr>
        <p:spPr>
          <a:xfrm>
            <a:off x="5437601" y="2473385"/>
            <a:ext cx="2314596" cy="1387652"/>
          </a:xfrm>
          <a:prstGeom prst="roundRect">
            <a:avLst>
              <a:gd name="adj" fmla="val 2956"/>
            </a:avLst>
          </a:prstGeom>
          <a:solidFill>
            <a:srgbClr val="E1EBF5"/>
          </a:solidFill>
          <a:ln w="17145">
            <a:solidFill>
              <a:srgbClr val="3477B7"/>
            </a:solidFill>
            <a:prstDash val="solid"/>
          </a:ln>
        </p:spPr>
      </p:sp>
      <p:graphicFrame>
        <p:nvGraphicFramePr>
          <p:cNvPr id="42" name="表格 41">
            <a:extLst>
              <a:ext uri="{FF2B5EF4-FFF2-40B4-BE49-F238E27FC236}">
                <a16:creationId xmlns:a16="http://schemas.microsoft.com/office/drawing/2014/main" id="{82EF111C-7B3D-1E9D-7DCA-E1CBC2F14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185122"/>
              </p:ext>
            </p:extLst>
          </p:nvPr>
        </p:nvGraphicFramePr>
        <p:xfrm>
          <a:off x="451465" y="4843423"/>
          <a:ext cx="5340030" cy="35639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8006">
                  <a:extLst>
                    <a:ext uri="{9D8B030D-6E8A-4147-A177-3AD203B41FA5}">
                      <a16:colId xmlns:a16="http://schemas.microsoft.com/office/drawing/2014/main" val="1074773634"/>
                    </a:ext>
                  </a:extLst>
                </a:gridCol>
                <a:gridCol w="1068006">
                  <a:extLst>
                    <a:ext uri="{9D8B030D-6E8A-4147-A177-3AD203B41FA5}">
                      <a16:colId xmlns:a16="http://schemas.microsoft.com/office/drawing/2014/main" val="499897258"/>
                    </a:ext>
                  </a:extLst>
                </a:gridCol>
                <a:gridCol w="1068006">
                  <a:extLst>
                    <a:ext uri="{9D8B030D-6E8A-4147-A177-3AD203B41FA5}">
                      <a16:colId xmlns:a16="http://schemas.microsoft.com/office/drawing/2014/main" val="940838096"/>
                    </a:ext>
                  </a:extLst>
                </a:gridCol>
                <a:gridCol w="1068006">
                  <a:extLst>
                    <a:ext uri="{9D8B030D-6E8A-4147-A177-3AD203B41FA5}">
                      <a16:colId xmlns:a16="http://schemas.microsoft.com/office/drawing/2014/main" val="3524694524"/>
                    </a:ext>
                  </a:extLst>
                </a:gridCol>
                <a:gridCol w="1068006">
                  <a:extLst>
                    <a:ext uri="{9D8B030D-6E8A-4147-A177-3AD203B41FA5}">
                      <a16:colId xmlns:a16="http://schemas.microsoft.com/office/drawing/2014/main" val="2588367618"/>
                    </a:ext>
                  </a:extLst>
                </a:gridCol>
              </a:tblGrid>
              <a:tr h="712791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22272B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marL="27432" marR="27432" marT="27432" marB="27432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22272B"/>
                          </a:solidFill>
                          <a:latin typeface="Arial"/>
                        </a:rPr>
                        <a:t>Molecular data</a:t>
                      </a:r>
                    </a:p>
                  </a:txBody>
                  <a:tcPr marL="27432" marR="27432" marT="27432" marB="27432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22272B"/>
                          </a:solidFill>
                          <a:latin typeface="Arial"/>
                        </a:rPr>
                        <a:t>Functional endpoint</a:t>
                      </a:r>
                    </a:p>
                  </a:txBody>
                  <a:tcPr marL="27432" marR="27432" marT="27432" marB="27432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22272B"/>
                          </a:solidFill>
                          <a:latin typeface="Arial"/>
                        </a:rPr>
                        <a:t>Primary unit</a:t>
                      </a:r>
                    </a:p>
                  </a:txBody>
                  <a:tcPr marL="27432" marR="27432" marT="27432" marB="27432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22272B"/>
                          </a:solidFill>
                          <a:latin typeface="Arial"/>
                        </a:rPr>
                        <a:t>Study role</a:t>
                      </a:r>
                    </a:p>
                  </a:txBody>
                  <a:tcPr marL="27432" marR="27432" marT="27432" marB="27432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956916"/>
                  </a:ext>
                </a:extLst>
              </a:tr>
              <a:tr h="71279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45235"/>
                          </a:solidFill>
                          <a:latin typeface="Arial"/>
                        </a:rPr>
                        <a:t>Cardiopedia</a:t>
                      </a:r>
                    </a:p>
                  </a:txBody>
                  <a:tcPr marL="36576" marR="36576" marT="36576" marB="36576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72B"/>
                          </a:solidFill>
                          <a:latin typeface="Arial"/>
                        </a:rPr>
                        <a:t>RNA</a:t>
                      </a:r>
                    </a:p>
                  </a:txBody>
                  <a:tcPr marL="36576" marR="36576" marT="36576" marB="36576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2272B"/>
                          </a:solidFill>
                          <a:latin typeface="Arial"/>
                        </a:rPr>
                        <a:t>24-h Force</a:t>
                      </a:r>
                    </a:p>
                  </a:txBody>
                  <a:tcPr marL="36576" marR="36576" marT="36576" marB="36576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72B"/>
                          </a:solidFill>
                          <a:latin typeface="Arial"/>
                        </a:rPr>
                        <a:t>ligand / organoid well</a:t>
                      </a:r>
                    </a:p>
                  </a:txBody>
                  <a:tcPr marL="36576" marR="36576" marT="36576" marB="36576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2272B"/>
                          </a:solidFill>
                          <a:latin typeface="Arial"/>
                        </a:rPr>
                        <a:t>Discovery</a:t>
                      </a:r>
                    </a:p>
                  </a:txBody>
                  <a:tcPr marL="36576" marR="36576" marT="36576" marB="36576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300058"/>
                  </a:ext>
                </a:extLst>
              </a:tr>
              <a:tr h="71279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F5D9C"/>
                          </a:solidFill>
                          <a:latin typeface="Arial"/>
                        </a:rPr>
                        <a:t>hiPSC-CM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2F5D9C"/>
                          </a:solidFill>
                          <a:latin typeface="Arial"/>
                        </a:rPr>
                        <a:t>pharmacology</a:t>
                      </a:r>
                    </a:p>
                  </a:txBody>
                  <a:tcPr marL="36576" marR="36576" marT="36576" marB="3657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72B"/>
                          </a:solidFill>
                          <a:latin typeface="Arial"/>
                        </a:rPr>
                        <a:t>RNA</a:t>
                      </a:r>
                    </a:p>
                  </a:txBody>
                  <a:tcPr marL="36576" marR="36576" marT="36576" marB="3657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22272B"/>
                          </a:solidFill>
                          <a:latin typeface="Arial"/>
                        </a:rPr>
                        <a:t>CaT</a:t>
                      </a:r>
                      <a:r>
                        <a:rPr sz="1200" b="0" dirty="0">
                          <a:solidFill>
                            <a:srgbClr val="22272B"/>
                          </a:solidFill>
                          <a:latin typeface="Arial"/>
                        </a:rPr>
                        <a:t> amplitude</a:t>
                      </a:r>
                    </a:p>
                  </a:txBody>
                  <a:tcPr marL="36576" marR="36576" marT="36576" marB="3657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2272B"/>
                          </a:solidFill>
                          <a:latin typeface="Arial"/>
                        </a:rPr>
                        <a:t>compound / dose</a:t>
                      </a:r>
                    </a:p>
                  </a:txBody>
                  <a:tcPr marL="36576" marR="36576" marT="36576" marB="3657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2272B"/>
                          </a:solidFill>
                          <a:latin typeface="Arial"/>
                        </a:rPr>
                        <a:t>External</a:t>
                      </a:r>
                    </a:p>
                    <a:p>
                      <a:pPr algn="ctr"/>
                      <a:r>
                        <a:rPr sz="1200" b="0" dirty="0">
                          <a:solidFill>
                            <a:srgbClr val="22272B"/>
                          </a:solidFill>
                          <a:latin typeface="Arial"/>
                        </a:rPr>
                        <a:t>functional test</a:t>
                      </a:r>
                    </a:p>
                  </a:txBody>
                  <a:tcPr marL="36576" marR="36576" marT="36576" marB="3657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382110"/>
                  </a:ext>
                </a:extLst>
              </a:tr>
              <a:tr h="712791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9786E"/>
                          </a:solidFill>
                          <a:latin typeface="Arial"/>
                        </a:rPr>
                        <a:t>Engineered</a:t>
                      </a:r>
                    </a:p>
                    <a:p>
                      <a:pPr algn="ctr"/>
                      <a:r>
                        <a:rPr sz="1200" b="1" dirty="0">
                          <a:solidFill>
                            <a:srgbClr val="19786E"/>
                          </a:solidFill>
                          <a:latin typeface="Arial"/>
                        </a:rPr>
                        <a:t>heart tissue</a:t>
                      </a:r>
                    </a:p>
                  </a:txBody>
                  <a:tcPr marL="36576" marR="36576" marT="36576" marB="36576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2272B"/>
                          </a:solidFill>
                          <a:latin typeface="Arial"/>
                        </a:rPr>
                        <a:t>RNA</a:t>
                      </a:r>
                    </a:p>
                  </a:txBody>
                  <a:tcPr marL="36576" marR="36576" marT="36576" marB="36576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2272B"/>
                          </a:solidFill>
                          <a:latin typeface="Arial"/>
                        </a:rPr>
                        <a:t>Direct Force</a:t>
                      </a:r>
                    </a:p>
                  </a:txBody>
                  <a:tcPr marL="36576" marR="36576" marT="36576" marB="36576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2272B"/>
                          </a:solidFill>
                          <a:latin typeface="Arial"/>
                        </a:rPr>
                        <a:t>condition</a:t>
                      </a:r>
                    </a:p>
                  </a:txBody>
                  <a:tcPr marL="36576" marR="36576" marT="36576" marB="36576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sz="1200" b="0" dirty="0">
                          <a:solidFill>
                            <a:srgbClr val="22272B"/>
                          </a:solidFill>
                          <a:latin typeface="Arial"/>
                        </a:rPr>
                        <a:t>External direct-Force functional test</a:t>
                      </a:r>
                      <a:endParaRPr sz="1200" b="0" dirty="0">
                        <a:solidFill>
                          <a:srgbClr val="22272B"/>
                        </a:solidFill>
                        <a:latin typeface="Arial"/>
                      </a:endParaRPr>
                    </a:p>
                  </a:txBody>
                  <a:tcPr marL="36576" marR="36576" marT="36576" marB="36576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065119"/>
                  </a:ext>
                </a:extLst>
              </a:tr>
              <a:tr h="712791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654AA4"/>
                          </a:solidFill>
                          <a:latin typeface="Arial"/>
                        </a:rPr>
                        <a:t>Adult LV cohort</a:t>
                      </a:r>
                    </a:p>
                  </a:txBody>
                  <a:tcPr marL="36576" marR="36576" marT="36576" marB="36576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2272B"/>
                          </a:solidFill>
                          <a:latin typeface="Arial"/>
                        </a:rPr>
                        <a:t>RNA</a:t>
                      </a:r>
                    </a:p>
                  </a:txBody>
                  <a:tcPr marL="36576" marR="36576" marT="36576" marB="36576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22272B"/>
                          </a:solidFill>
                          <a:latin typeface="Arial"/>
                        </a:rPr>
                        <a:t>-</a:t>
                      </a:r>
                      <a:endParaRPr sz="1200" b="0" dirty="0">
                        <a:solidFill>
                          <a:srgbClr val="22272B"/>
                        </a:solidFill>
                        <a:latin typeface="Arial"/>
                      </a:endParaRPr>
                    </a:p>
                  </a:txBody>
                  <a:tcPr marL="36576" marR="36576" marT="36576" marB="36576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2272B"/>
                          </a:solidFill>
                          <a:latin typeface="Arial"/>
                        </a:rPr>
                        <a:t>donor / gene</a:t>
                      </a:r>
                    </a:p>
                  </a:txBody>
                  <a:tcPr marL="36576" marR="36576" marT="36576" marB="36576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2272B"/>
                          </a:solidFill>
                          <a:latin typeface="Arial"/>
                        </a:rPr>
                        <a:t>Independent</a:t>
                      </a:r>
                    </a:p>
                    <a:p>
                      <a:pPr algn="ctr"/>
                      <a:r>
                        <a:rPr sz="1200" b="0" dirty="0">
                          <a:solidFill>
                            <a:srgbClr val="22272B"/>
                          </a:solidFill>
                          <a:latin typeface="Arial"/>
                        </a:rPr>
                        <a:t>molecular anchor</a:t>
                      </a:r>
                    </a:p>
                  </a:txBody>
                  <a:tcPr marL="36576" marR="36576" marT="36576" marB="36576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241736"/>
                  </a:ext>
                </a:extLst>
              </a:tr>
            </a:tbl>
          </a:graphicData>
        </a:graphic>
      </p:graphicFrame>
      <p:cxnSp>
        <p:nvCxnSpPr>
          <p:cNvPr id="59" name="Connector 383">
            <a:extLst>
              <a:ext uri="{FF2B5EF4-FFF2-40B4-BE49-F238E27FC236}">
                <a16:creationId xmlns:a16="http://schemas.microsoft.com/office/drawing/2014/main" id="{9EF858CD-BE81-19D7-CF63-7F3B4B044FE3}"/>
              </a:ext>
            </a:extLst>
          </p:cNvPr>
          <p:cNvCxnSpPr/>
          <p:nvPr/>
        </p:nvCxnSpPr>
        <p:spPr>
          <a:xfrm>
            <a:off x="8157475" y="4926973"/>
            <a:ext cx="0" cy="2615184"/>
          </a:xfrm>
          <a:prstGeom prst="line">
            <a:avLst/>
          </a:prstGeom>
          <a:ln w="10160">
            <a:solidFill>
              <a:srgbClr val="C7CDD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0274 Text Cardiopedia: well → ligand">
            <a:extLst>
              <a:ext uri="{FF2B5EF4-FFF2-40B4-BE49-F238E27FC236}">
                <a16:creationId xmlns:a16="http://schemas.microsoft.com/office/drawing/2014/main" id="{69CF49E2-4275-B8A6-E220-AA452778555A}"/>
              </a:ext>
            </a:extLst>
          </p:cNvPr>
          <p:cNvSpPr>
            <a:spLocks noGrp="1"/>
          </p:cNvSpPr>
          <p:nvPr/>
        </p:nvSpPr>
        <p:spPr>
          <a:xfrm>
            <a:off x="6074382" y="4766957"/>
            <a:ext cx="1875465" cy="3455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48" b="1" i="0">
                <a:solidFill>
                  <a:srgbClr val="ED684B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>
                <a:solidFill>
                  <a:srgbClr val="ED684B"/>
                </a:solidFill>
                <a:latin typeface="Arial"/>
                <a:ea typeface="Arial"/>
                <a:cs typeface="Arial"/>
              </a:rPr>
              <a:t>Cardiopedia</a:t>
            </a:r>
            <a:r>
              <a:rPr sz="1200" b="1" dirty="0">
                <a:solidFill>
                  <a:srgbClr val="ED684B"/>
                </a:solidFill>
                <a:latin typeface="Arial"/>
                <a:ea typeface="Arial"/>
                <a:cs typeface="Arial"/>
              </a:rPr>
              <a:t>: well → ligand</a:t>
            </a:r>
          </a:p>
        </p:txBody>
      </p:sp>
      <p:sp>
        <p:nvSpPr>
          <p:cNvPr id="63" name="0275 Text multiple hCO wells per ligand">
            <a:extLst>
              <a:ext uri="{FF2B5EF4-FFF2-40B4-BE49-F238E27FC236}">
                <a16:creationId xmlns:a16="http://schemas.microsoft.com/office/drawing/2014/main" id="{165AFB0A-71F5-B1FF-CBC3-8A13B3D5B51D}"/>
              </a:ext>
            </a:extLst>
          </p:cNvPr>
          <p:cNvSpPr>
            <a:spLocks noGrp="1"/>
          </p:cNvSpPr>
          <p:nvPr/>
        </p:nvSpPr>
        <p:spPr>
          <a:xfrm>
            <a:off x="6306678" y="5070786"/>
            <a:ext cx="1622501" cy="3703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13" b="0" i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dirty="0">
                <a:solidFill>
                  <a:srgbClr val="111820"/>
                </a:solidFill>
                <a:latin typeface="Arial"/>
                <a:ea typeface="Arial"/>
                <a:cs typeface="Arial"/>
              </a:rPr>
              <a:t>multiple </a:t>
            </a:r>
            <a:r>
              <a:rPr lang="en-NZ" sz="1200" dirty="0">
                <a:solidFill>
                  <a:srgbClr val="111820"/>
                </a:solidFill>
                <a:latin typeface="Arial"/>
                <a:ea typeface="Arial"/>
                <a:cs typeface="Arial"/>
              </a:rPr>
              <a:t>organoid</a:t>
            </a:r>
            <a:r>
              <a:rPr sz="1200" dirty="0">
                <a:solidFill>
                  <a:srgbClr val="111820"/>
                </a:solidFill>
                <a:latin typeface="Arial"/>
                <a:ea typeface="Arial"/>
                <a:cs typeface="Arial"/>
              </a:rPr>
              <a:t> wells </a:t>
            </a:r>
            <a:endParaRPr lang="en-US" sz="1200" dirty="0">
              <a:solidFill>
                <a:srgbClr val="111820"/>
              </a:solidFill>
              <a:latin typeface="Arial"/>
              <a:ea typeface="Arial"/>
              <a:cs typeface="Arial"/>
            </a:endParaRPr>
          </a:p>
          <a:p>
            <a:pPr algn="ctr">
              <a:defRPr sz="1013" b="0" i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dirty="0">
                <a:solidFill>
                  <a:srgbClr val="111820"/>
                </a:solidFill>
                <a:latin typeface="Arial"/>
                <a:ea typeface="Arial"/>
                <a:cs typeface="Arial"/>
              </a:rPr>
              <a:t>per ligand</a:t>
            </a:r>
          </a:p>
        </p:txBody>
      </p:sp>
      <p:sp>
        <p:nvSpPr>
          <p:cNvPr id="65" name="0277 Editable rectangle">
            <a:extLst>
              <a:ext uri="{FF2B5EF4-FFF2-40B4-BE49-F238E27FC236}">
                <a16:creationId xmlns:a16="http://schemas.microsoft.com/office/drawing/2014/main" id="{E96758D1-FF25-8045-00D8-543A4A1DEE59}"/>
              </a:ext>
            </a:extLst>
          </p:cNvPr>
          <p:cNvSpPr>
            <a:spLocks noGrp="1"/>
          </p:cNvSpPr>
          <p:nvPr/>
        </p:nvSpPr>
        <p:spPr>
          <a:xfrm>
            <a:off x="6430166" y="5581471"/>
            <a:ext cx="1073869" cy="310623"/>
          </a:xfrm>
          <a:prstGeom prst="roundRect">
            <a:avLst>
              <a:gd name="adj" fmla="val 25714"/>
            </a:avLst>
          </a:prstGeom>
          <a:solidFill>
            <a:srgbClr val="ED684B"/>
          </a:solidFill>
          <a:ln w="9525">
            <a:solidFill>
              <a:srgbClr val="ED684B"/>
            </a:solidFill>
            <a:prstDash val="solid"/>
          </a:ln>
        </p:spPr>
      </p:sp>
      <p:sp>
        <p:nvSpPr>
          <p:cNvPr id="67" name="0278 Text Ligand X">
            <a:extLst>
              <a:ext uri="{FF2B5EF4-FFF2-40B4-BE49-F238E27FC236}">
                <a16:creationId xmlns:a16="http://schemas.microsoft.com/office/drawing/2014/main" id="{5D776456-0968-D695-8F68-B3394CB37148}"/>
              </a:ext>
            </a:extLst>
          </p:cNvPr>
          <p:cNvSpPr>
            <a:spLocks noGrp="1"/>
          </p:cNvSpPr>
          <p:nvPr/>
        </p:nvSpPr>
        <p:spPr>
          <a:xfrm>
            <a:off x="6564177" y="5637383"/>
            <a:ext cx="805846" cy="1890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48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Ligand X</a:t>
            </a: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A9F3F9A2-D462-A49B-1C14-035441428326}"/>
              </a:ext>
            </a:extLst>
          </p:cNvPr>
          <p:cNvGrpSpPr/>
          <p:nvPr/>
        </p:nvGrpSpPr>
        <p:grpSpPr>
          <a:xfrm>
            <a:off x="6108527" y="5897047"/>
            <a:ext cx="1731492" cy="525020"/>
            <a:chOff x="7122482" y="5875528"/>
            <a:chExt cx="1731492" cy="525020"/>
          </a:xfrm>
        </p:grpSpPr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D67C453F-7863-7160-1A90-4B515907894C}"/>
                </a:ext>
              </a:extLst>
            </p:cNvPr>
            <p:cNvGrpSpPr/>
            <p:nvPr/>
          </p:nvGrpSpPr>
          <p:grpSpPr>
            <a:xfrm rot="5400000">
              <a:off x="7728195" y="5269815"/>
              <a:ext cx="520066" cy="1731492"/>
              <a:chOff x="5806461" y="3452812"/>
              <a:chExt cx="520066" cy="1095375"/>
            </a:xfrm>
          </p:grpSpPr>
          <p:cxnSp>
            <p:nvCxnSpPr>
              <p:cNvPr id="69" name="直接连接符 68">
                <a:extLst>
                  <a:ext uri="{FF2B5EF4-FFF2-40B4-BE49-F238E27FC236}">
                    <a16:creationId xmlns:a16="http://schemas.microsoft.com/office/drawing/2014/main" id="{5F3870BE-6B4E-5853-71D8-3A4837E04C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06461" y="4000500"/>
                <a:ext cx="257175" cy="0"/>
              </a:xfrm>
              <a:prstGeom prst="line">
                <a:avLst/>
              </a:prstGeom>
              <a:ln>
                <a:solidFill>
                  <a:srgbClr val="ED684B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>
                <a:extLst>
                  <a:ext uri="{FF2B5EF4-FFF2-40B4-BE49-F238E27FC236}">
                    <a16:creationId xmlns:a16="http://schemas.microsoft.com/office/drawing/2014/main" id="{D29FE3A3-2A59-AE34-6841-5D93933569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63636" y="3452812"/>
                <a:ext cx="0" cy="1095375"/>
              </a:xfrm>
              <a:prstGeom prst="line">
                <a:avLst/>
              </a:prstGeom>
              <a:ln>
                <a:solidFill>
                  <a:srgbClr val="ED684B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箭头连接符 70">
                <a:extLst>
                  <a:ext uri="{FF2B5EF4-FFF2-40B4-BE49-F238E27FC236}">
                    <a16:creationId xmlns:a16="http://schemas.microsoft.com/office/drawing/2014/main" id="{380D48D8-500F-BBBE-057E-7D2DCB0082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63636" y="3452839"/>
                <a:ext cx="262890" cy="0"/>
              </a:xfrm>
              <a:prstGeom prst="straightConnector1">
                <a:avLst/>
              </a:prstGeom>
              <a:ln>
                <a:solidFill>
                  <a:srgbClr val="ED684B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箭头连接符 71">
                <a:extLst>
                  <a:ext uri="{FF2B5EF4-FFF2-40B4-BE49-F238E27FC236}">
                    <a16:creationId xmlns:a16="http://schemas.microsoft.com/office/drawing/2014/main" id="{1AF06C0B-3841-32C7-030D-6E88B4874D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63637" y="4544008"/>
                <a:ext cx="262890" cy="0"/>
              </a:xfrm>
              <a:prstGeom prst="straightConnector1">
                <a:avLst/>
              </a:prstGeom>
              <a:ln>
                <a:solidFill>
                  <a:srgbClr val="ED684B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C1569364-E6FA-A823-9C67-E395DF427F9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537393" y="6264149"/>
              <a:ext cx="262890" cy="0"/>
            </a:xfrm>
            <a:prstGeom prst="straightConnector1">
              <a:avLst/>
            </a:prstGeom>
            <a:ln>
              <a:solidFill>
                <a:srgbClr val="ED684B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7D8CCB46-3AC5-0C2F-B0A7-F0578103D96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113918" y="6269103"/>
              <a:ext cx="262890" cy="0"/>
            </a:xfrm>
            <a:prstGeom prst="straightConnector1">
              <a:avLst/>
            </a:prstGeom>
            <a:ln>
              <a:solidFill>
                <a:srgbClr val="ED684B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0289 Editable circle">
            <a:extLst>
              <a:ext uri="{FF2B5EF4-FFF2-40B4-BE49-F238E27FC236}">
                <a16:creationId xmlns:a16="http://schemas.microsoft.com/office/drawing/2014/main" id="{309E3D02-7B25-E609-9562-DA5898D08085}"/>
              </a:ext>
            </a:extLst>
          </p:cNvPr>
          <p:cNvSpPr>
            <a:spLocks noGrp="1"/>
          </p:cNvSpPr>
          <p:nvPr/>
        </p:nvSpPr>
        <p:spPr>
          <a:xfrm>
            <a:off x="5955175" y="6469278"/>
            <a:ext cx="354998" cy="354998"/>
          </a:xfrm>
          <a:prstGeom prst="ellipse">
            <a:avLst/>
          </a:prstGeom>
          <a:solidFill>
            <a:srgbClr val="FBFCFD"/>
          </a:solidFill>
          <a:ln w="11430">
            <a:solidFill>
              <a:srgbClr val="B5C2CC"/>
            </a:solidFill>
            <a:prstDash val="solid"/>
          </a:ln>
        </p:spPr>
      </p:sp>
      <p:sp>
        <p:nvSpPr>
          <p:cNvPr id="79" name="0291 Editable circle">
            <a:extLst>
              <a:ext uri="{FF2B5EF4-FFF2-40B4-BE49-F238E27FC236}">
                <a16:creationId xmlns:a16="http://schemas.microsoft.com/office/drawing/2014/main" id="{AC2458A5-3072-8D8A-BB0D-47C9DC1AB51B}"/>
              </a:ext>
            </a:extLst>
          </p:cNvPr>
          <p:cNvSpPr>
            <a:spLocks noGrp="1"/>
          </p:cNvSpPr>
          <p:nvPr/>
        </p:nvSpPr>
        <p:spPr>
          <a:xfrm>
            <a:off x="6033228" y="6551461"/>
            <a:ext cx="186374" cy="186374"/>
          </a:xfrm>
          <a:prstGeom prst="ellipse">
            <a:avLst/>
          </a:prstGeom>
          <a:solidFill>
            <a:srgbClr val="ED684B"/>
          </a:solidFill>
          <a:ln w="7620">
            <a:solidFill>
              <a:srgbClr val="D58D84"/>
            </a:solidFill>
            <a:prstDash val="solid"/>
          </a:ln>
        </p:spPr>
      </p:sp>
      <p:sp>
        <p:nvSpPr>
          <p:cNvPr id="81" name="0305 Text ···">
            <a:extLst>
              <a:ext uri="{FF2B5EF4-FFF2-40B4-BE49-F238E27FC236}">
                <a16:creationId xmlns:a16="http://schemas.microsoft.com/office/drawing/2014/main" id="{57100312-13EF-8F18-FBDE-4B54DC1959A0}"/>
              </a:ext>
            </a:extLst>
          </p:cNvPr>
          <p:cNvSpPr>
            <a:spLocks noGrp="1"/>
          </p:cNvSpPr>
          <p:nvPr/>
        </p:nvSpPr>
        <p:spPr>
          <a:xfrm>
            <a:off x="7323696" y="6523593"/>
            <a:ext cx="360678" cy="2142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188" dirty="0">
                <a:solidFill>
                  <a:srgbClr val="111820"/>
                </a:solidFill>
                <a:latin typeface="Arial"/>
                <a:ea typeface="Arial"/>
                <a:cs typeface="Arial"/>
              </a:rPr>
              <a:t>···</a:t>
            </a:r>
          </a:p>
        </p:txBody>
      </p:sp>
      <p:sp>
        <p:nvSpPr>
          <p:cNvPr id="83" name="0289 Editable circle">
            <a:extLst>
              <a:ext uri="{FF2B5EF4-FFF2-40B4-BE49-F238E27FC236}">
                <a16:creationId xmlns:a16="http://schemas.microsoft.com/office/drawing/2014/main" id="{9B41FB4B-AFCF-FD27-AB33-C684A321E781}"/>
              </a:ext>
            </a:extLst>
          </p:cNvPr>
          <p:cNvSpPr>
            <a:spLocks noGrp="1"/>
          </p:cNvSpPr>
          <p:nvPr/>
        </p:nvSpPr>
        <p:spPr>
          <a:xfrm>
            <a:off x="6497214" y="6469278"/>
            <a:ext cx="354998" cy="354998"/>
          </a:xfrm>
          <a:prstGeom prst="ellipse">
            <a:avLst/>
          </a:prstGeom>
          <a:solidFill>
            <a:srgbClr val="FBFCFD"/>
          </a:solidFill>
          <a:ln w="11430">
            <a:solidFill>
              <a:srgbClr val="B5C2CC"/>
            </a:solidFill>
            <a:prstDash val="solid"/>
          </a:ln>
        </p:spPr>
      </p:sp>
      <p:sp>
        <p:nvSpPr>
          <p:cNvPr id="85" name="0291 Editable circle">
            <a:extLst>
              <a:ext uri="{FF2B5EF4-FFF2-40B4-BE49-F238E27FC236}">
                <a16:creationId xmlns:a16="http://schemas.microsoft.com/office/drawing/2014/main" id="{1F4448F2-7019-99D2-2B49-EF836DF190FD}"/>
              </a:ext>
            </a:extLst>
          </p:cNvPr>
          <p:cNvSpPr>
            <a:spLocks noGrp="1"/>
          </p:cNvSpPr>
          <p:nvPr/>
        </p:nvSpPr>
        <p:spPr>
          <a:xfrm>
            <a:off x="6575267" y="6551461"/>
            <a:ext cx="186374" cy="186374"/>
          </a:xfrm>
          <a:prstGeom prst="ellipse">
            <a:avLst/>
          </a:prstGeom>
          <a:solidFill>
            <a:srgbClr val="ED684B"/>
          </a:solidFill>
          <a:ln w="7620">
            <a:solidFill>
              <a:srgbClr val="D58D84"/>
            </a:solidFill>
            <a:prstDash val="solid"/>
          </a:ln>
        </p:spPr>
      </p:sp>
      <p:sp>
        <p:nvSpPr>
          <p:cNvPr id="87" name="0289 Editable circle">
            <a:extLst>
              <a:ext uri="{FF2B5EF4-FFF2-40B4-BE49-F238E27FC236}">
                <a16:creationId xmlns:a16="http://schemas.microsoft.com/office/drawing/2014/main" id="{C5DEE12B-5F51-7D7A-8F53-D011B7A0AA31}"/>
              </a:ext>
            </a:extLst>
          </p:cNvPr>
          <p:cNvSpPr>
            <a:spLocks noGrp="1"/>
          </p:cNvSpPr>
          <p:nvPr/>
        </p:nvSpPr>
        <p:spPr>
          <a:xfrm>
            <a:off x="7032922" y="6469278"/>
            <a:ext cx="354998" cy="354998"/>
          </a:xfrm>
          <a:prstGeom prst="ellipse">
            <a:avLst/>
          </a:prstGeom>
          <a:solidFill>
            <a:srgbClr val="FBFCFD"/>
          </a:solidFill>
          <a:ln w="11430">
            <a:solidFill>
              <a:srgbClr val="B5C2CC"/>
            </a:solidFill>
            <a:prstDash val="solid"/>
          </a:ln>
        </p:spPr>
      </p:sp>
      <p:sp>
        <p:nvSpPr>
          <p:cNvPr id="89" name="0291 Editable circle">
            <a:extLst>
              <a:ext uri="{FF2B5EF4-FFF2-40B4-BE49-F238E27FC236}">
                <a16:creationId xmlns:a16="http://schemas.microsoft.com/office/drawing/2014/main" id="{C93ADE54-2674-1990-D95D-0BD40225FA8C}"/>
              </a:ext>
            </a:extLst>
          </p:cNvPr>
          <p:cNvSpPr>
            <a:spLocks noGrp="1"/>
          </p:cNvSpPr>
          <p:nvPr/>
        </p:nvSpPr>
        <p:spPr>
          <a:xfrm>
            <a:off x="7110975" y="6551461"/>
            <a:ext cx="186374" cy="186374"/>
          </a:xfrm>
          <a:prstGeom prst="ellipse">
            <a:avLst/>
          </a:prstGeom>
          <a:solidFill>
            <a:srgbClr val="ED684B"/>
          </a:solidFill>
          <a:ln w="7620">
            <a:solidFill>
              <a:srgbClr val="D58D84"/>
            </a:solidFill>
            <a:prstDash val="solid"/>
          </a:ln>
        </p:spPr>
      </p:sp>
      <p:sp>
        <p:nvSpPr>
          <p:cNvPr id="91" name="0289 Editable circle">
            <a:extLst>
              <a:ext uri="{FF2B5EF4-FFF2-40B4-BE49-F238E27FC236}">
                <a16:creationId xmlns:a16="http://schemas.microsoft.com/office/drawing/2014/main" id="{494FB611-4EC2-7DB8-94DB-85E2010C1BC6}"/>
              </a:ext>
            </a:extLst>
          </p:cNvPr>
          <p:cNvSpPr>
            <a:spLocks noGrp="1"/>
          </p:cNvSpPr>
          <p:nvPr/>
        </p:nvSpPr>
        <p:spPr>
          <a:xfrm>
            <a:off x="7669351" y="6469278"/>
            <a:ext cx="354998" cy="354998"/>
          </a:xfrm>
          <a:prstGeom prst="ellipse">
            <a:avLst/>
          </a:prstGeom>
          <a:solidFill>
            <a:srgbClr val="FBFCFD"/>
          </a:solidFill>
          <a:ln w="11430">
            <a:solidFill>
              <a:srgbClr val="B5C2CC"/>
            </a:solidFill>
            <a:prstDash val="solid"/>
          </a:ln>
        </p:spPr>
      </p:sp>
      <p:sp>
        <p:nvSpPr>
          <p:cNvPr id="93" name="0291 Editable circle">
            <a:extLst>
              <a:ext uri="{FF2B5EF4-FFF2-40B4-BE49-F238E27FC236}">
                <a16:creationId xmlns:a16="http://schemas.microsoft.com/office/drawing/2014/main" id="{DB965091-364B-BC3E-CDCF-0BC346FD5973}"/>
              </a:ext>
            </a:extLst>
          </p:cNvPr>
          <p:cNvSpPr>
            <a:spLocks noGrp="1"/>
          </p:cNvSpPr>
          <p:nvPr/>
        </p:nvSpPr>
        <p:spPr>
          <a:xfrm>
            <a:off x="7747404" y="6551461"/>
            <a:ext cx="186374" cy="186374"/>
          </a:xfrm>
          <a:prstGeom prst="ellipse">
            <a:avLst/>
          </a:prstGeom>
          <a:solidFill>
            <a:srgbClr val="ED684B"/>
          </a:solidFill>
          <a:ln w="7620">
            <a:solidFill>
              <a:srgbClr val="D58D84"/>
            </a:solidFill>
            <a:prstDash val="solid"/>
          </a:ln>
        </p:spPr>
      </p:sp>
      <p:sp>
        <p:nvSpPr>
          <p:cNvPr id="95" name="0306 Text hCO wells">
            <a:extLst>
              <a:ext uri="{FF2B5EF4-FFF2-40B4-BE49-F238E27FC236}">
                <a16:creationId xmlns:a16="http://schemas.microsoft.com/office/drawing/2014/main" id="{8F5ABE36-8E58-5C2D-AA9D-7FA3BA09E518}"/>
              </a:ext>
            </a:extLst>
          </p:cNvPr>
          <p:cNvSpPr>
            <a:spLocks noGrp="1"/>
          </p:cNvSpPr>
          <p:nvPr/>
        </p:nvSpPr>
        <p:spPr>
          <a:xfrm>
            <a:off x="6357438" y="6904575"/>
            <a:ext cx="1215644" cy="2353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1" i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lang="en-NZ" sz="1200" b="1" dirty="0">
                <a:solidFill>
                  <a:srgbClr val="111820"/>
                </a:solidFill>
                <a:latin typeface="Arial"/>
                <a:ea typeface="Arial"/>
                <a:cs typeface="Arial"/>
              </a:rPr>
              <a:t>organoid wells</a:t>
            </a:r>
            <a:endParaRPr sz="1200" b="1" dirty="0">
              <a:solidFill>
                <a:srgbClr val="1118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0307 Text (82 ligands; multiple replicates)">
            <a:extLst>
              <a:ext uri="{FF2B5EF4-FFF2-40B4-BE49-F238E27FC236}">
                <a16:creationId xmlns:a16="http://schemas.microsoft.com/office/drawing/2014/main" id="{7F918045-54FC-0D34-11F5-4BD6C62556FC}"/>
              </a:ext>
            </a:extLst>
          </p:cNvPr>
          <p:cNvSpPr>
            <a:spLocks noGrp="1"/>
          </p:cNvSpPr>
          <p:nvPr/>
        </p:nvSpPr>
        <p:spPr>
          <a:xfrm>
            <a:off x="5776213" y="7197765"/>
            <a:ext cx="2470218" cy="1613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60" b="0" i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dirty="0">
                <a:solidFill>
                  <a:srgbClr val="111820"/>
                </a:solidFill>
                <a:latin typeface="Arial"/>
                <a:ea typeface="Arial"/>
                <a:cs typeface="Arial"/>
              </a:rPr>
              <a:t>(82 ligands; multiple replicates)</a:t>
            </a:r>
          </a:p>
        </p:txBody>
      </p:sp>
      <p:sp>
        <p:nvSpPr>
          <p:cNvPr id="101" name="0309 Text multiple doses per compound">
            <a:extLst>
              <a:ext uri="{FF2B5EF4-FFF2-40B4-BE49-F238E27FC236}">
                <a16:creationId xmlns:a16="http://schemas.microsoft.com/office/drawing/2014/main" id="{F1BF1426-0934-5242-89B5-01012BB90E9D}"/>
              </a:ext>
            </a:extLst>
          </p:cNvPr>
          <p:cNvSpPr>
            <a:spLocks noGrp="1"/>
          </p:cNvSpPr>
          <p:nvPr/>
        </p:nvSpPr>
        <p:spPr>
          <a:xfrm>
            <a:off x="8736292" y="5063082"/>
            <a:ext cx="1326988" cy="4074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13" b="0" i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dirty="0">
                <a:solidFill>
                  <a:srgbClr val="111820"/>
                </a:solidFill>
                <a:latin typeface="Arial"/>
                <a:ea typeface="Arial"/>
                <a:cs typeface="Arial"/>
              </a:rPr>
              <a:t>multiple doses </a:t>
            </a:r>
            <a:endParaRPr lang="en-US" sz="1200" dirty="0">
              <a:solidFill>
                <a:srgbClr val="111820"/>
              </a:solidFill>
              <a:latin typeface="Arial"/>
              <a:ea typeface="Arial"/>
              <a:cs typeface="Arial"/>
            </a:endParaRPr>
          </a:p>
          <a:p>
            <a:pPr algn="ctr">
              <a:defRPr sz="1013" b="0" i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dirty="0">
                <a:solidFill>
                  <a:srgbClr val="111820"/>
                </a:solidFill>
                <a:latin typeface="Arial"/>
                <a:ea typeface="Arial"/>
                <a:cs typeface="Arial"/>
              </a:rPr>
              <a:t>per compound</a:t>
            </a:r>
          </a:p>
        </p:txBody>
      </p:sp>
      <p:sp>
        <p:nvSpPr>
          <p:cNvPr id="103" name="0311 Editable rectangle">
            <a:extLst>
              <a:ext uri="{FF2B5EF4-FFF2-40B4-BE49-F238E27FC236}">
                <a16:creationId xmlns:a16="http://schemas.microsoft.com/office/drawing/2014/main" id="{EFCF9175-48A6-7D83-411D-A4D2F1848AD1}"/>
              </a:ext>
            </a:extLst>
          </p:cNvPr>
          <p:cNvSpPr>
            <a:spLocks noGrp="1"/>
          </p:cNvSpPr>
          <p:nvPr/>
        </p:nvSpPr>
        <p:spPr>
          <a:xfrm>
            <a:off x="8742997" y="5552364"/>
            <a:ext cx="1073869" cy="310623"/>
          </a:xfrm>
          <a:prstGeom prst="roundRect">
            <a:avLst>
              <a:gd name="adj" fmla="val 25714"/>
            </a:avLst>
          </a:prstGeom>
          <a:solidFill>
            <a:srgbClr val="3477B7"/>
          </a:solidFill>
          <a:ln w="9525">
            <a:solidFill>
              <a:srgbClr val="3477B7"/>
            </a:solidFill>
            <a:prstDash val="solid"/>
          </a:ln>
        </p:spPr>
      </p:sp>
      <p:sp>
        <p:nvSpPr>
          <p:cNvPr id="105" name="0312 Text Compound Y">
            <a:extLst>
              <a:ext uri="{FF2B5EF4-FFF2-40B4-BE49-F238E27FC236}">
                <a16:creationId xmlns:a16="http://schemas.microsoft.com/office/drawing/2014/main" id="{4DC7C1EE-CFBD-5C32-8BF0-19333219D056}"/>
              </a:ext>
            </a:extLst>
          </p:cNvPr>
          <p:cNvSpPr>
            <a:spLocks noGrp="1"/>
          </p:cNvSpPr>
          <p:nvPr/>
        </p:nvSpPr>
        <p:spPr>
          <a:xfrm>
            <a:off x="8785153" y="5608276"/>
            <a:ext cx="989557" cy="1890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48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Compound Y</a:t>
            </a:r>
          </a:p>
        </p:txBody>
      </p:sp>
      <p:sp>
        <p:nvSpPr>
          <p:cNvPr id="107" name="0339 Text Dose conditions">
            <a:extLst>
              <a:ext uri="{FF2B5EF4-FFF2-40B4-BE49-F238E27FC236}">
                <a16:creationId xmlns:a16="http://schemas.microsoft.com/office/drawing/2014/main" id="{E1628D96-7325-2F78-D664-42247F96395C}"/>
              </a:ext>
            </a:extLst>
          </p:cNvPr>
          <p:cNvSpPr>
            <a:spLocks noGrp="1"/>
          </p:cNvSpPr>
          <p:nvPr/>
        </p:nvSpPr>
        <p:spPr>
          <a:xfrm>
            <a:off x="8672866" y="6926128"/>
            <a:ext cx="1356980" cy="17643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1" i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11820"/>
                </a:solidFill>
                <a:latin typeface="Arial"/>
                <a:ea typeface="Arial"/>
                <a:cs typeface="Arial"/>
              </a:rPr>
              <a:t>Dose conditions</a:t>
            </a:r>
          </a:p>
        </p:txBody>
      </p:sp>
      <p:sp>
        <p:nvSpPr>
          <p:cNvPr id="109" name="0340 Text (e.g. 0.03, 0.1, 0.3, 1 μM)">
            <a:extLst>
              <a:ext uri="{FF2B5EF4-FFF2-40B4-BE49-F238E27FC236}">
                <a16:creationId xmlns:a16="http://schemas.microsoft.com/office/drawing/2014/main" id="{13447F2D-46DD-1544-F1AA-7FF58798F4B6}"/>
              </a:ext>
            </a:extLst>
          </p:cNvPr>
          <p:cNvSpPr>
            <a:spLocks noGrp="1"/>
          </p:cNvSpPr>
          <p:nvPr/>
        </p:nvSpPr>
        <p:spPr>
          <a:xfrm>
            <a:off x="8395614" y="7186698"/>
            <a:ext cx="2033998" cy="1613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60" b="0" i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dirty="0">
                <a:solidFill>
                  <a:srgbClr val="111820"/>
                </a:solidFill>
                <a:latin typeface="Arial"/>
                <a:ea typeface="Arial"/>
                <a:cs typeface="Arial"/>
              </a:rPr>
              <a:t>(e.g. 0.03, 0.1, 0.3, 1 </a:t>
            </a:r>
            <a:r>
              <a:rPr sz="1200" dirty="0" err="1">
                <a:solidFill>
                  <a:srgbClr val="111820"/>
                </a:solidFill>
                <a:latin typeface="Arial"/>
                <a:ea typeface="Arial"/>
                <a:cs typeface="Arial"/>
              </a:rPr>
              <a:t>μM</a:t>
            </a:r>
            <a:r>
              <a:rPr sz="1200" dirty="0">
                <a:solidFill>
                  <a:srgbClr val="111820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8DD1A29C-D8F5-93BA-8E7B-CDA13CD7FD83}"/>
              </a:ext>
            </a:extLst>
          </p:cNvPr>
          <p:cNvGrpSpPr/>
          <p:nvPr/>
        </p:nvGrpSpPr>
        <p:grpSpPr>
          <a:xfrm>
            <a:off x="8404908" y="5855713"/>
            <a:ext cx="1731492" cy="525020"/>
            <a:chOff x="7122482" y="5875528"/>
            <a:chExt cx="1731492" cy="525020"/>
          </a:xfrm>
        </p:grpSpPr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F631F5FF-599C-B80E-D9BA-3A2D2CEFB214}"/>
                </a:ext>
              </a:extLst>
            </p:cNvPr>
            <p:cNvGrpSpPr/>
            <p:nvPr/>
          </p:nvGrpSpPr>
          <p:grpSpPr>
            <a:xfrm rot="5400000">
              <a:off x="7728195" y="5269815"/>
              <a:ext cx="520066" cy="1731492"/>
              <a:chOff x="5806461" y="3452812"/>
              <a:chExt cx="520066" cy="1095375"/>
            </a:xfrm>
          </p:grpSpPr>
          <p:cxnSp>
            <p:nvCxnSpPr>
              <p:cNvPr id="114" name="直接连接符 113">
                <a:extLst>
                  <a:ext uri="{FF2B5EF4-FFF2-40B4-BE49-F238E27FC236}">
                    <a16:creationId xmlns:a16="http://schemas.microsoft.com/office/drawing/2014/main" id="{2832CA31-D61F-7F05-CD09-BB626F2C8B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06461" y="4000500"/>
                <a:ext cx="257175" cy="0"/>
              </a:xfrm>
              <a:prstGeom prst="line">
                <a:avLst/>
              </a:prstGeom>
              <a:ln>
                <a:solidFill>
                  <a:srgbClr val="3477B7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>
                <a:extLst>
                  <a:ext uri="{FF2B5EF4-FFF2-40B4-BE49-F238E27FC236}">
                    <a16:creationId xmlns:a16="http://schemas.microsoft.com/office/drawing/2014/main" id="{B3083369-4EF6-E00C-DAB6-8115B5C764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63636" y="3452812"/>
                <a:ext cx="0" cy="1095375"/>
              </a:xfrm>
              <a:prstGeom prst="line">
                <a:avLst/>
              </a:prstGeom>
              <a:ln>
                <a:solidFill>
                  <a:srgbClr val="3477B7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箭头连接符 115">
                <a:extLst>
                  <a:ext uri="{FF2B5EF4-FFF2-40B4-BE49-F238E27FC236}">
                    <a16:creationId xmlns:a16="http://schemas.microsoft.com/office/drawing/2014/main" id="{ADFAEA64-E2FC-3BED-CDF4-5841541EC1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63636" y="3452839"/>
                <a:ext cx="262890" cy="0"/>
              </a:xfrm>
              <a:prstGeom prst="straightConnector1">
                <a:avLst/>
              </a:prstGeom>
              <a:ln>
                <a:solidFill>
                  <a:srgbClr val="3477B7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箭头连接符 116">
                <a:extLst>
                  <a:ext uri="{FF2B5EF4-FFF2-40B4-BE49-F238E27FC236}">
                    <a16:creationId xmlns:a16="http://schemas.microsoft.com/office/drawing/2014/main" id="{25E23651-F8E0-EB4E-778B-8480FC5937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63637" y="4544008"/>
                <a:ext cx="262890" cy="0"/>
              </a:xfrm>
              <a:prstGeom prst="straightConnector1">
                <a:avLst/>
              </a:prstGeom>
              <a:ln>
                <a:solidFill>
                  <a:srgbClr val="3477B7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9E1104D0-A9CE-992C-43E0-D466BA1AA06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537393" y="6264149"/>
              <a:ext cx="262890" cy="0"/>
            </a:xfrm>
            <a:prstGeom prst="straightConnector1">
              <a:avLst/>
            </a:prstGeom>
            <a:ln>
              <a:solidFill>
                <a:srgbClr val="3477B7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C978BFE7-5F9B-E41B-B65E-59FE766D09E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113918" y="6269103"/>
              <a:ext cx="262890" cy="0"/>
            </a:xfrm>
            <a:prstGeom prst="straightConnector1">
              <a:avLst/>
            </a:prstGeom>
            <a:ln>
              <a:solidFill>
                <a:srgbClr val="3477B7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" name="0289 Editable circle">
            <a:extLst>
              <a:ext uri="{FF2B5EF4-FFF2-40B4-BE49-F238E27FC236}">
                <a16:creationId xmlns:a16="http://schemas.microsoft.com/office/drawing/2014/main" id="{31658D78-7FE1-E8A9-68C4-1AE160F93D6C}"/>
              </a:ext>
            </a:extLst>
          </p:cNvPr>
          <p:cNvSpPr>
            <a:spLocks noGrp="1"/>
          </p:cNvSpPr>
          <p:nvPr/>
        </p:nvSpPr>
        <p:spPr>
          <a:xfrm>
            <a:off x="8253654" y="6442595"/>
            <a:ext cx="354998" cy="354998"/>
          </a:xfrm>
          <a:prstGeom prst="ellipse">
            <a:avLst/>
          </a:prstGeom>
          <a:solidFill>
            <a:srgbClr val="FBFCFD"/>
          </a:solidFill>
          <a:ln w="11430">
            <a:solidFill>
              <a:srgbClr val="B5C2CC"/>
            </a:solidFill>
            <a:prstDash val="solid"/>
          </a:ln>
        </p:spPr>
      </p:sp>
      <p:sp>
        <p:nvSpPr>
          <p:cNvPr id="121" name="0291 Editable circle">
            <a:extLst>
              <a:ext uri="{FF2B5EF4-FFF2-40B4-BE49-F238E27FC236}">
                <a16:creationId xmlns:a16="http://schemas.microsoft.com/office/drawing/2014/main" id="{F42681D7-BFA9-D1D1-A857-4F69467FB359}"/>
              </a:ext>
            </a:extLst>
          </p:cNvPr>
          <p:cNvSpPr>
            <a:spLocks noGrp="1"/>
          </p:cNvSpPr>
          <p:nvPr/>
        </p:nvSpPr>
        <p:spPr>
          <a:xfrm>
            <a:off x="8339016" y="6529223"/>
            <a:ext cx="186374" cy="18637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7620">
            <a:noFill/>
            <a:prstDash val="solid"/>
          </a:ln>
        </p:spPr>
      </p:sp>
      <p:sp>
        <p:nvSpPr>
          <p:cNvPr id="123" name="0289 Editable circle">
            <a:extLst>
              <a:ext uri="{FF2B5EF4-FFF2-40B4-BE49-F238E27FC236}">
                <a16:creationId xmlns:a16="http://schemas.microsoft.com/office/drawing/2014/main" id="{81D34E19-3A2A-8D33-ACB7-BD90A37B588C}"/>
              </a:ext>
            </a:extLst>
          </p:cNvPr>
          <p:cNvSpPr>
            <a:spLocks noGrp="1"/>
          </p:cNvSpPr>
          <p:nvPr/>
        </p:nvSpPr>
        <p:spPr>
          <a:xfrm>
            <a:off x="8766680" y="6442595"/>
            <a:ext cx="354998" cy="354998"/>
          </a:xfrm>
          <a:prstGeom prst="ellipse">
            <a:avLst/>
          </a:prstGeom>
          <a:solidFill>
            <a:srgbClr val="FBFCFD"/>
          </a:solidFill>
          <a:ln w="11430">
            <a:solidFill>
              <a:srgbClr val="B5C2CC"/>
            </a:solidFill>
            <a:prstDash val="solid"/>
          </a:ln>
        </p:spPr>
      </p:sp>
      <p:sp>
        <p:nvSpPr>
          <p:cNvPr id="125" name="0291 Editable circle">
            <a:extLst>
              <a:ext uri="{FF2B5EF4-FFF2-40B4-BE49-F238E27FC236}">
                <a16:creationId xmlns:a16="http://schemas.microsoft.com/office/drawing/2014/main" id="{95264F0D-5EAC-5622-899E-37C475F4C97E}"/>
              </a:ext>
            </a:extLst>
          </p:cNvPr>
          <p:cNvSpPr>
            <a:spLocks noGrp="1"/>
          </p:cNvSpPr>
          <p:nvPr/>
        </p:nvSpPr>
        <p:spPr>
          <a:xfrm>
            <a:off x="8859565" y="6524778"/>
            <a:ext cx="186374" cy="18637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7620">
            <a:noFill/>
            <a:prstDash val="solid"/>
          </a:ln>
        </p:spPr>
      </p:sp>
      <p:sp>
        <p:nvSpPr>
          <p:cNvPr id="127" name="0289 Editable circle">
            <a:extLst>
              <a:ext uri="{FF2B5EF4-FFF2-40B4-BE49-F238E27FC236}">
                <a16:creationId xmlns:a16="http://schemas.microsoft.com/office/drawing/2014/main" id="{AA267A87-BF48-C56D-87F8-7F9E8E96357E}"/>
              </a:ext>
            </a:extLst>
          </p:cNvPr>
          <p:cNvSpPr>
            <a:spLocks noGrp="1"/>
          </p:cNvSpPr>
          <p:nvPr/>
        </p:nvSpPr>
        <p:spPr>
          <a:xfrm>
            <a:off x="9325004" y="6437296"/>
            <a:ext cx="354998" cy="354998"/>
          </a:xfrm>
          <a:prstGeom prst="ellipse">
            <a:avLst/>
          </a:prstGeom>
          <a:solidFill>
            <a:srgbClr val="FBFCFD"/>
          </a:solidFill>
          <a:ln w="11430">
            <a:solidFill>
              <a:srgbClr val="B5C2CC"/>
            </a:solidFill>
            <a:prstDash val="solid"/>
          </a:ln>
        </p:spPr>
      </p:sp>
      <p:sp>
        <p:nvSpPr>
          <p:cNvPr id="129" name="0291 Editable circle">
            <a:extLst>
              <a:ext uri="{FF2B5EF4-FFF2-40B4-BE49-F238E27FC236}">
                <a16:creationId xmlns:a16="http://schemas.microsoft.com/office/drawing/2014/main" id="{43267F5B-B0D1-7630-7160-4297B660AD97}"/>
              </a:ext>
            </a:extLst>
          </p:cNvPr>
          <p:cNvSpPr>
            <a:spLocks noGrp="1"/>
          </p:cNvSpPr>
          <p:nvPr/>
        </p:nvSpPr>
        <p:spPr>
          <a:xfrm>
            <a:off x="9418442" y="6526256"/>
            <a:ext cx="186374" cy="186374"/>
          </a:xfrm>
          <a:prstGeom prst="ellipse">
            <a:avLst/>
          </a:prstGeom>
          <a:solidFill>
            <a:srgbClr val="3477B7"/>
          </a:solidFill>
          <a:ln w="7620">
            <a:noFill/>
            <a:prstDash val="solid"/>
          </a:ln>
        </p:spPr>
      </p:sp>
      <p:sp>
        <p:nvSpPr>
          <p:cNvPr id="131" name="0289 Editable circle">
            <a:extLst>
              <a:ext uri="{FF2B5EF4-FFF2-40B4-BE49-F238E27FC236}">
                <a16:creationId xmlns:a16="http://schemas.microsoft.com/office/drawing/2014/main" id="{75D31FBE-6366-3AAA-C183-7A3E27F83136}"/>
              </a:ext>
            </a:extLst>
          </p:cNvPr>
          <p:cNvSpPr>
            <a:spLocks noGrp="1"/>
          </p:cNvSpPr>
          <p:nvPr/>
        </p:nvSpPr>
        <p:spPr>
          <a:xfrm>
            <a:off x="9989769" y="6442595"/>
            <a:ext cx="354998" cy="354998"/>
          </a:xfrm>
          <a:prstGeom prst="ellipse">
            <a:avLst/>
          </a:prstGeom>
          <a:solidFill>
            <a:srgbClr val="FBFCFD"/>
          </a:solidFill>
          <a:ln w="11430">
            <a:solidFill>
              <a:srgbClr val="B5C2CC"/>
            </a:solidFill>
            <a:prstDash val="solid"/>
          </a:ln>
        </p:spPr>
      </p:sp>
      <p:sp>
        <p:nvSpPr>
          <p:cNvPr id="133" name="0291 Editable circle">
            <a:extLst>
              <a:ext uri="{FF2B5EF4-FFF2-40B4-BE49-F238E27FC236}">
                <a16:creationId xmlns:a16="http://schemas.microsoft.com/office/drawing/2014/main" id="{44786E62-5729-199A-101A-1CE8FC559D4C}"/>
              </a:ext>
            </a:extLst>
          </p:cNvPr>
          <p:cNvSpPr>
            <a:spLocks noGrp="1"/>
          </p:cNvSpPr>
          <p:nvPr/>
        </p:nvSpPr>
        <p:spPr>
          <a:xfrm>
            <a:off x="10072474" y="6529223"/>
            <a:ext cx="186374" cy="1863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7620">
            <a:solidFill>
              <a:srgbClr val="3477B7"/>
            </a:solidFill>
            <a:prstDash val="solid"/>
          </a:ln>
        </p:spPr>
      </p:sp>
      <p:sp>
        <p:nvSpPr>
          <p:cNvPr id="135" name="0305 Text ···">
            <a:extLst>
              <a:ext uri="{FF2B5EF4-FFF2-40B4-BE49-F238E27FC236}">
                <a16:creationId xmlns:a16="http://schemas.microsoft.com/office/drawing/2014/main" id="{EC7EAE0D-3E1F-E531-9763-5E7A22C63C82}"/>
              </a:ext>
            </a:extLst>
          </p:cNvPr>
          <p:cNvSpPr>
            <a:spLocks noGrp="1"/>
          </p:cNvSpPr>
          <p:nvPr/>
        </p:nvSpPr>
        <p:spPr>
          <a:xfrm>
            <a:off x="9681270" y="6531503"/>
            <a:ext cx="360678" cy="2142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188" dirty="0">
                <a:solidFill>
                  <a:srgbClr val="111820"/>
                </a:solidFill>
                <a:latin typeface="Arial"/>
                <a:ea typeface="Arial"/>
                <a:cs typeface="Arial"/>
              </a:rPr>
              <a:t>···</a:t>
            </a:r>
          </a:p>
        </p:txBody>
      </p:sp>
      <p:sp>
        <p:nvSpPr>
          <p:cNvPr id="137" name="0030 Editable rectangle">
            <a:extLst>
              <a:ext uri="{FF2B5EF4-FFF2-40B4-BE49-F238E27FC236}">
                <a16:creationId xmlns:a16="http://schemas.microsoft.com/office/drawing/2014/main" id="{2CFED125-BC75-ED99-7964-3C01D6075EE1}"/>
              </a:ext>
            </a:extLst>
          </p:cNvPr>
          <p:cNvSpPr>
            <a:spLocks noGrp="1"/>
          </p:cNvSpPr>
          <p:nvPr/>
        </p:nvSpPr>
        <p:spPr>
          <a:xfrm>
            <a:off x="5955174" y="7656312"/>
            <a:ext cx="3385704" cy="577885"/>
          </a:xfrm>
          <a:prstGeom prst="roundRect">
            <a:avLst>
              <a:gd name="adj" fmla="val 2941"/>
            </a:avLst>
          </a:prstGeom>
          <a:solidFill>
            <a:srgbClr val="E0F3F3"/>
          </a:solidFill>
          <a:ln w="17145">
            <a:solidFill>
              <a:srgbClr val="078E87"/>
            </a:solidFill>
            <a:prstDash val="solid"/>
          </a:ln>
        </p:spPr>
      </p:sp>
      <p:sp>
        <p:nvSpPr>
          <p:cNvPr id="139" name="0038 Editable rectangle">
            <a:extLst>
              <a:ext uri="{FF2B5EF4-FFF2-40B4-BE49-F238E27FC236}">
                <a16:creationId xmlns:a16="http://schemas.microsoft.com/office/drawing/2014/main" id="{19EDCDD7-CF7D-9BAC-C810-91E1796D498F}"/>
              </a:ext>
            </a:extLst>
          </p:cNvPr>
          <p:cNvSpPr>
            <a:spLocks noGrp="1"/>
          </p:cNvSpPr>
          <p:nvPr/>
        </p:nvSpPr>
        <p:spPr>
          <a:xfrm>
            <a:off x="9420198" y="7652602"/>
            <a:ext cx="3385704" cy="577025"/>
          </a:xfrm>
          <a:prstGeom prst="roundRect">
            <a:avLst>
              <a:gd name="adj" fmla="val 2941"/>
            </a:avLst>
          </a:prstGeom>
          <a:solidFill>
            <a:srgbClr val="FBE3DA"/>
          </a:solidFill>
          <a:ln w="17145">
            <a:solidFill>
              <a:srgbClr val="ED684B"/>
            </a:solidFill>
            <a:prstDash val="solid"/>
          </a:ln>
        </p:spPr>
      </p:sp>
      <p:cxnSp>
        <p:nvCxnSpPr>
          <p:cNvPr id="140" name="Connector 383">
            <a:extLst>
              <a:ext uri="{FF2B5EF4-FFF2-40B4-BE49-F238E27FC236}">
                <a16:creationId xmlns:a16="http://schemas.microsoft.com/office/drawing/2014/main" id="{2786C65A-0812-D188-CF92-39597A63E089}"/>
              </a:ext>
            </a:extLst>
          </p:cNvPr>
          <p:cNvCxnSpPr/>
          <p:nvPr/>
        </p:nvCxnSpPr>
        <p:spPr>
          <a:xfrm>
            <a:off x="10514456" y="4928789"/>
            <a:ext cx="0" cy="2615184"/>
          </a:xfrm>
          <a:prstGeom prst="line">
            <a:avLst/>
          </a:prstGeom>
          <a:ln w="10160">
            <a:solidFill>
              <a:srgbClr val="C7CDD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4">
            <a:extLst>
              <a:ext uri="{FF2B5EF4-FFF2-40B4-BE49-F238E27FC236}">
                <a16:creationId xmlns:a16="http://schemas.microsoft.com/office/drawing/2014/main" id="{25DDF25C-0A99-2AD7-D702-C644980E96D9}"/>
              </a:ext>
            </a:extLst>
          </p:cNvPr>
          <p:cNvSpPr txBox="1"/>
          <p:nvPr/>
        </p:nvSpPr>
        <p:spPr>
          <a:xfrm>
            <a:off x="478870" y="690314"/>
            <a:ext cx="2249424" cy="42627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dirty="0">
                <a:solidFill>
                  <a:srgbClr val="2F5D9C"/>
                </a:solidFill>
                <a:latin typeface="Arial"/>
              </a:rPr>
              <a:t>1. Adult human HF</a:t>
            </a:r>
          </a:p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2F5D9C"/>
                </a:solidFill>
                <a:latin typeface="Arial"/>
              </a:rPr>
              <a:t>transcriptomic</a:t>
            </a:r>
            <a:r>
              <a:rPr sz="1250" b="1" dirty="0">
                <a:solidFill>
                  <a:srgbClr val="2F5D9C"/>
                </a:solidFill>
                <a:latin typeface="Arial"/>
              </a:rPr>
              <a:t> reference</a:t>
            </a:r>
          </a:p>
        </p:txBody>
      </p:sp>
      <p:sp>
        <p:nvSpPr>
          <p:cNvPr id="144" name="TextBox 49">
            <a:extLst>
              <a:ext uri="{FF2B5EF4-FFF2-40B4-BE49-F238E27FC236}">
                <a16:creationId xmlns:a16="http://schemas.microsoft.com/office/drawing/2014/main" id="{6F2AD4E9-39EC-43FC-171C-BDECC8662B65}"/>
              </a:ext>
            </a:extLst>
          </p:cNvPr>
          <p:cNvSpPr txBox="1"/>
          <p:nvPr/>
        </p:nvSpPr>
        <p:spPr>
          <a:xfrm>
            <a:off x="2995229" y="684440"/>
            <a:ext cx="2157984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045E57"/>
                </a:solidFill>
                <a:latin typeface="Arial"/>
              </a:rPr>
              <a:t>2. Frozen molecular</a:t>
            </a:r>
          </a:p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045E57"/>
                </a:solidFill>
                <a:latin typeface="Arial"/>
              </a:rPr>
              <a:t>projection</a:t>
            </a:r>
          </a:p>
        </p:txBody>
      </p:sp>
      <p:sp>
        <p:nvSpPr>
          <p:cNvPr id="146" name="TextBox 83">
            <a:extLst>
              <a:ext uri="{FF2B5EF4-FFF2-40B4-BE49-F238E27FC236}">
                <a16:creationId xmlns:a16="http://schemas.microsoft.com/office/drawing/2014/main" id="{FCA3CE0F-8BE0-B6FA-3EF1-DA29B473EE43}"/>
              </a:ext>
            </a:extLst>
          </p:cNvPr>
          <p:cNvSpPr txBox="1"/>
          <p:nvPr/>
        </p:nvSpPr>
        <p:spPr>
          <a:xfrm>
            <a:off x="5438906" y="684440"/>
            <a:ext cx="2633472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A33D27"/>
                </a:solidFill>
                <a:latin typeface="Arial"/>
              </a:rPr>
              <a:t>3. </a:t>
            </a:r>
            <a:r>
              <a:rPr sz="1400" b="1" dirty="0" err="1">
                <a:solidFill>
                  <a:srgbClr val="A33D27"/>
                </a:solidFill>
                <a:latin typeface="Arial"/>
              </a:rPr>
              <a:t>Cardiopedia</a:t>
            </a:r>
            <a:r>
              <a:rPr sz="1400" b="1" dirty="0">
                <a:solidFill>
                  <a:srgbClr val="A33D27"/>
                </a:solidFill>
                <a:latin typeface="Arial"/>
              </a:rPr>
              <a:t> organoid</a:t>
            </a:r>
          </a:p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A33D27"/>
                </a:solidFill>
                <a:latin typeface="Arial"/>
              </a:rPr>
              <a:t>perturbation screen</a:t>
            </a:r>
          </a:p>
        </p:txBody>
      </p:sp>
      <p:sp>
        <p:nvSpPr>
          <p:cNvPr id="148" name="TextBox 118">
            <a:extLst>
              <a:ext uri="{FF2B5EF4-FFF2-40B4-BE49-F238E27FC236}">
                <a16:creationId xmlns:a16="http://schemas.microsoft.com/office/drawing/2014/main" id="{E65CCEDF-518F-30D8-7D67-DDD5F8D72F4E}"/>
              </a:ext>
            </a:extLst>
          </p:cNvPr>
          <p:cNvSpPr txBox="1"/>
          <p:nvPr/>
        </p:nvSpPr>
        <p:spPr>
          <a:xfrm>
            <a:off x="8396028" y="1513474"/>
            <a:ext cx="3291840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lang="en-US" sz="1400" b="1" dirty="0">
                <a:solidFill>
                  <a:srgbClr val="654AA4"/>
                </a:solidFill>
                <a:latin typeface="Arial"/>
              </a:rPr>
              <a:t>6</a:t>
            </a:r>
            <a:r>
              <a:rPr sz="1400" b="1" dirty="0">
                <a:solidFill>
                  <a:srgbClr val="654AA4"/>
                </a:solidFill>
                <a:latin typeface="Arial"/>
              </a:rPr>
              <a:t>. Component decomposition</a:t>
            </a:r>
          </a:p>
        </p:txBody>
      </p:sp>
      <p:sp>
        <p:nvSpPr>
          <p:cNvPr id="150" name="TextBox 132">
            <a:extLst>
              <a:ext uri="{FF2B5EF4-FFF2-40B4-BE49-F238E27FC236}">
                <a16:creationId xmlns:a16="http://schemas.microsoft.com/office/drawing/2014/main" id="{C86E9FD1-9F02-36E0-3BC8-209528913F07}"/>
              </a:ext>
            </a:extLst>
          </p:cNvPr>
          <p:cNvSpPr txBox="1"/>
          <p:nvPr/>
        </p:nvSpPr>
        <p:spPr>
          <a:xfrm>
            <a:off x="8396028" y="2727497"/>
            <a:ext cx="3291840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lang="en-US" sz="1400" b="1" dirty="0">
                <a:solidFill>
                  <a:srgbClr val="3F4951"/>
                </a:solidFill>
                <a:latin typeface="Arial"/>
              </a:rPr>
              <a:t>7</a:t>
            </a:r>
            <a:r>
              <a:rPr sz="1400" b="1" dirty="0">
                <a:solidFill>
                  <a:srgbClr val="3F4951"/>
                </a:solidFill>
                <a:latin typeface="Arial"/>
              </a:rPr>
              <a:t>. Robustness analyses</a:t>
            </a:r>
          </a:p>
        </p:txBody>
      </p:sp>
      <p:sp>
        <p:nvSpPr>
          <p:cNvPr id="152" name="TextBox 215">
            <a:extLst>
              <a:ext uri="{FF2B5EF4-FFF2-40B4-BE49-F238E27FC236}">
                <a16:creationId xmlns:a16="http://schemas.microsoft.com/office/drawing/2014/main" id="{A4E739EA-9EAA-44A5-9049-A02CF83BB33A}"/>
              </a:ext>
            </a:extLst>
          </p:cNvPr>
          <p:cNvSpPr txBox="1"/>
          <p:nvPr/>
        </p:nvSpPr>
        <p:spPr>
          <a:xfrm>
            <a:off x="5536090" y="2536627"/>
            <a:ext cx="2286000" cy="44935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400" b="1" dirty="0">
                <a:solidFill>
                  <a:srgbClr val="2F5D9C"/>
                </a:solidFill>
                <a:latin typeface="Arial"/>
              </a:rPr>
              <a:t>4</a:t>
            </a:r>
            <a:r>
              <a:rPr sz="1400" b="1" dirty="0">
                <a:solidFill>
                  <a:srgbClr val="2F5D9C"/>
                </a:solidFill>
                <a:latin typeface="Arial"/>
              </a:rPr>
              <a:t>. Independent adult LV</a:t>
            </a:r>
          </a:p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2F5D9C"/>
                </a:solidFill>
                <a:latin typeface="Arial"/>
              </a:rPr>
              <a:t>molecular anchor</a:t>
            </a:r>
          </a:p>
        </p:txBody>
      </p:sp>
      <p:sp>
        <p:nvSpPr>
          <p:cNvPr id="154" name="TextBox 260">
            <a:extLst>
              <a:ext uri="{FF2B5EF4-FFF2-40B4-BE49-F238E27FC236}">
                <a16:creationId xmlns:a16="http://schemas.microsoft.com/office/drawing/2014/main" id="{C159A443-88E9-8DE3-7ED1-250F3DE99B8D}"/>
              </a:ext>
            </a:extLst>
          </p:cNvPr>
          <p:cNvSpPr txBox="1"/>
          <p:nvPr/>
        </p:nvSpPr>
        <p:spPr>
          <a:xfrm>
            <a:off x="547433" y="2536627"/>
            <a:ext cx="4169663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lang="en-US" sz="1400" b="1" dirty="0">
                <a:solidFill>
                  <a:srgbClr val="045E57"/>
                </a:solidFill>
                <a:latin typeface="Arial"/>
              </a:rPr>
              <a:t>5</a:t>
            </a:r>
            <a:r>
              <a:rPr sz="1400" b="1" dirty="0">
                <a:solidFill>
                  <a:srgbClr val="045E57"/>
                </a:solidFill>
                <a:latin typeface="Arial"/>
              </a:rPr>
              <a:t>. External functional transport tests</a:t>
            </a:r>
          </a:p>
        </p:txBody>
      </p:sp>
      <p:sp>
        <p:nvSpPr>
          <p:cNvPr id="156" name="TextBox 386">
            <a:extLst>
              <a:ext uri="{FF2B5EF4-FFF2-40B4-BE49-F238E27FC236}">
                <a16:creationId xmlns:a16="http://schemas.microsoft.com/office/drawing/2014/main" id="{8B8207A8-652B-933F-E826-B91DD89BF353}"/>
              </a:ext>
            </a:extLst>
          </p:cNvPr>
          <p:cNvSpPr txBox="1"/>
          <p:nvPr/>
        </p:nvSpPr>
        <p:spPr>
          <a:xfrm>
            <a:off x="8133352" y="4847690"/>
            <a:ext cx="2520244" cy="20313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200" b="1" dirty="0" err="1">
                <a:solidFill>
                  <a:srgbClr val="2F5D9C"/>
                </a:solidFill>
                <a:latin typeface="Arial"/>
              </a:rPr>
              <a:t>hiPSC</a:t>
            </a:r>
            <a:r>
              <a:rPr sz="1200" b="1" dirty="0">
                <a:solidFill>
                  <a:srgbClr val="2F5D9C"/>
                </a:solidFill>
                <a:latin typeface="Arial"/>
              </a:rPr>
              <a:t>-CM: dose → compound</a:t>
            </a:r>
          </a:p>
        </p:txBody>
      </p:sp>
      <p:sp>
        <p:nvSpPr>
          <p:cNvPr id="158" name="TextBox 387">
            <a:extLst>
              <a:ext uri="{FF2B5EF4-FFF2-40B4-BE49-F238E27FC236}">
                <a16:creationId xmlns:a16="http://schemas.microsoft.com/office/drawing/2014/main" id="{47EC200F-4ADF-9C48-E5A3-FFD7086F5A65}"/>
              </a:ext>
            </a:extLst>
          </p:cNvPr>
          <p:cNvSpPr txBox="1"/>
          <p:nvPr/>
        </p:nvSpPr>
        <p:spPr>
          <a:xfrm>
            <a:off x="10731982" y="4847689"/>
            <a:ext cx="1729739" cy="20313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200" b="1" dirty="0">
                <a:solidFill>
                  <a:srgbClr val="654AA4"/>
                </a:solidFill>
                <a:latin typeface="Arial"/>
              </a:rPr>
              <a:t>Cross-half validation</a:t>
            </a:r>
          </a:p>
        </p:txBody>
      </p:sp>
      <p:sp>
        <p:nvSpPr>
          <p:cNvPr id="160" name="0342 Text non-overlapping well sets">
            <a:extLst>
              <a:ext uri="{FF2B5EF4-FFF2-40B4-BE49-F238E27FC236}">
                <a16:creationId xmlns:a16="http://schemas.microsoft.com/office/drawing/2014/main" id="{8D39845F-D35D-90AA-C652-AD1EBDE5B7AF}"/>
              </a:ext>
            </a:extLst>
          </p:cNvPr>
          <p:cNvSpPr>
            <a:spLocks noGrp="1"/>
          </p:cNvSpPr>
          <p:nvPr/>
        </p:nvSpPr>
        <p:spPr>
          <a:xfrm>
            <a:off x="10814440" y="5129055"/>
            <a:ext cx="1854865" cy="1701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13" b="0" i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dirty="0">
                <a:solidFill>
                  <a:srgbClr val="111820"/>
                </a:solidFill>
                <a:latin typeface="Arial"/>
                <a:ea typeface="Arial"/>
                <a:cs typeface="Arial"/>
              </a:rPr>
              <a:t>non-overlapping well sets</a:t>
            </a:r>
          </a:p>
        </p:txBody>
      </p:sp>
      <p:sp>
        <p:nvSpPr>
          <p:cNvPr id="162" name="0343 Editable rectangle">
            <a:extLst>
              <a:ext uri="{FF2B5EF4-FFF2-40B4-BE49-F238E27FC236}">
                <a16:creationId xmlns:a16="http://schemas.microsoft.com/office/drawing/2014/main" id="{EED16D08-2C04-8BC7-1AB8-7A7D43CD63A4}"/>
              </a:ext>
            </a:extLst>
          </p:cNvPr>
          <p:cNvSpPr>
            <a:spLocks noGrp="1"/>
          </p:cNvSpPr>
          <p:nvPr/>
        </p:nvSpPr>
        <p:spPr>
          <a:xfrm>
            <a:off x="10574816" y="6057440"/>
            <a:ext cx="940745" cy="869745"/>
          </a:xfrm>
          <a:prstGeom prst="roundRect">
            <a:avLst>
              <a:gd name="adj" fmla="val 7143"/>
            </a:avLst>
          </a:prstGeom>
          <a:solidFill>
            <a:srgbClr val="F1F7FC"/>
          </a:solidFill>
          <a:ln w="11430">
            <a:solidFill>
              <a:srgbClr val="7EABD0"/>
            </a:solidFill>
            <a:prstDash val="solid"/>
          </a:ln>
        </p:spPr>
      </p:sp>
      <p:sp>
        <p:nvSpPr>
          <p:cNvPr id="164" name="0344 Editable rectangle">
            <a:extLst>
              <a:ext uri="{FF2B5EF4-FFF2-40B4-BE49-F238E27FC236}">
                <a16:creationId xmlns:a16="http://schemas.microsoft.com/office/drawing/2014/main" id="{CD311B07-E66A-3BD9-7A78-783376E85B3A}"/>
              </a:ext>
            </a:extLst>
          </p:cNvPr>
          <p:cNvSpPr>
            <a:spLocks noGrp="1"/>
          </p:cNvSpPr>
          <p:nvPr/>
        </p:nvSpPr>
        <p:spPr>
          <a:xfrm>
            <a:off x="11728560" y="6057440"/>
            <a:ext cx="940745" cy="869745"/>
          </a:xfrm>
          <a:prstGeom prst="roundRect">
            <a:avLst>
              <a:gd name="adj" fmla="val 7143"/>
            </a:avLst>
          </a:prstGeom>
          <a:solidFill>
            <a:srgbClr val="F7F3FC"/>
          </a:solidFill>
          <a:ln w="11430">
            <a:solidFill>
              <a:srgbClr val="A491D0"/>
            </a:solidFill>
            <a:prstDash val="solid"/>
          </a:ln>
        </p:spPr>
      </p:sp>
      <p:sp>
        <p:nvSpPr>
          <p:cNvPr id="166" name="0345 Text Half A">
            <a:extLst>
              <a:ext uri="{FF2B5EF4-FFF2-40B4-BE49-F238E27FC236}">
                <a16:creationId xmlns:a16="http://schemas.microsoft.com/office/drawing/2014/main" id="{9772EAE4-7912-03C4-AE0D-553DC2C15AAE}"/>
              </a:ext>
            </a:extLst>
          </p:cNvPr>
          <p:cNvSpPr>
            <a:spLocks noGrp="1"/>
          </p:cNvSpPr>
          <p:nvPr/>
        </p:nvSpPr>
        <p:spPr>
          <a:xfrm>
            <a:off x="10742568" y="6311709"/>
            <a:ext cx="585392" cy="17643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1" i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978" b="1" dirty="0">
                <a:solidFill>
                  <a:srgbClr val="111820"/>
                </a:solidFill>
                <a:latin typeface="Arial"/>
                <a:ea typeface="Arial"/>
                <a:cs typeface="Arial"/>
              </a:rPr>
              <a:t>Half A</a:t>
            </a:r>
          </a:p>
        </p:txBody>
      </p:sp>
      <p:sp>
        <p:nvSpPr>
          <p:cNvPr id="168" name="0346 Text (RNA)">
            <a:extLst>
              <a:ext uri="{FF2B5EF4-FFF2-40B4-BE49-F238E27FC236}">
                <a16:creationId xmlns:a16="http://schemas.microsoft.com/office/drawing/2014/main" id="{52BC57ED-A430-7409-371F-C936F9BC69CB}"/>
              </a:ext>
            </a:extLst>
          </p:cNvPr>
          <p:cNvSpPr>
            <a:spLocks noGrp="1"/>
          </p:cNvSpPr>
          <p:nvPr/>
        </p:nvSpPr>
        <p:spPr>
          <a:xfrm>
            <a:off x="10847530" y="6555955"/>
            <a:ext cx="440198" cy="1638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75" b="0" i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909" dirty="0">
                <a:solidFill>
                  <a:srgbClr val="111820"/>
                </a:solidFill>
                <a:latin typeface="Arial"/>
                <a:ea typeface="Arial"/>
                <a:cs typeface="Arial"/>
              </a:rPr>
              <a:t>(RNA)</a:t>
            </a:r>
          </a:p>
        </p:txBody>
      </p:sp>
      <p:sp>
        <p:nvSpPr>
          <p:cNvPr id="170" name="0347 Text Half B">
            <a:extLst>
              <a:ext uri="{FF2B5EF4-FFF2-40B4-BE49-F238E27FC236}">
                <a16:creationId xmlns:a16="http://schemas.microsoft.com/office/drawing/2014/main" id="{6F4D9945-7E69-F0ED-E86F-F5CD758A8DF5}"/>
              </a:ext>
            </a:extLst>
          </p:cNvPr>
          <p:cNvSpPr>
            <a:spLocks noGrp="1"/>
          </p:cNvSpPr>
          <p:nvPr/>
        </p:nvSpPr>
        <p:spPr>
          <a:xfrm>
            <a:off x="11914669" y="6295070"/>
            <a:ext cx="585392" cy="17643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1" i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978" b="1" dirty="0">
                <a:solidFill>
                  <a:srgbClr val="111820"/>
                </a:solidFill>
                <a:latin typeface="Arial"/>
                <a:ea typeface="Arial"/>
                <a:cs typeface="Arial"/>
              </a:rPr>
              <a:t>Half B</a:t>
            </a:r>
          </a:p>
        </p:txBody>
      </p:sp>
      <p:sp>
        <p:nvSpPr>
          <p:cNvPr id="172" name="0348 Text (Force)">
            <a:extLst>
              <a:ext uri="{FF2B5EF4-FFF2-40B4-BE49-F238E27FC236}">
                <a16:creationId xmlns:a16="http://schemas.microsoft.com/office/drawing/2014/main" id="{C8525E21-A1FE-6447-C76A-AE5613CF4510}"/>
              </a:ext>
            </a:extLst>
          </p:cNvPr>
          <p:cNvSpPr>
            <a:spLocks noGrp="1"/>
          </p:cNvSpPr>
          <p:nvPr/>
        </p:nvSpPr>
        <p:spPr>
          <a:xfrm>
            <a:off x="11930555" y="6548798"/>
            <a:ext cx="587877" cy="1638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75" b="0" i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909" dirty="0">
                <a:solidFill>
                  <a:srgbClr val="111820"/>
                </a:solidFill>
                <a:latin typeface="Arial"/>
                <a:ea typeface="Arial"/>
                <a:cs typeface="Arial"/>
              </a:rPr>
              <a:t>(Force)</a:t>
            </a:r>
          </a:p>
        </p:txBody>
      </p:sp>
      <p:sp>
        <p:nvSpPr>
          <p:cNvPr id="174" name="0373 Editable vector line">
            <a:extLst>
              <a:ext uri="{FF2B5EF4-FFF2-40B4-BE49-F238E27FC236}">
                <a16:creationId xmlns:a16="http://schemas.microsoft.com/office/drawing/2014/main" id="{7760E937-93D2-33E2-5AEB-29ED1FC298E6}"/>
              </a:ext>
            </a:extLst>
          </p:cNvPr>
          <p:cNvSpPr>
            <a:spLocks noGrp="1"/>
          </p:cNvSpPr>
          <p:nvPr/>
        </p:nvSpPr>
        <p:spPr>
          <a:xfrm>
            <a:off x="10770066" y="5740160"/>
            <a:ext cx="1748366" cy="219655"/>
          </a:xfrm>
          <a:custGeom>
            <a:avLst/>
            <a:gdLst/>
            <a:ahLst/>
            <a:cxnLst/>
            <a:rect l="0" t="0" r="0" b="0"/>
            <a:pathLst>
              <a:path w="1876425" h="235744">
                <a:moveTo>
                  <a:pt x="0" y="235744"/>
                </a:moveTo>
                <a:lnTo>
                  <a:pt x="196658" y="132606"/>
                </a:lnTo>
                <a:lnTo>
                  <a:pt x="423118" y="58936"/>
                </a:lnTo>
                <a:lnTo>
                  <a:pt x="669894" y="14734"/>
                </a:lnTo>
                <a:lnTo>
                  <a:pt x="927497" y="0"/>
                </a:lnTo>
                <a:lnTo>
                  <a:pt x="1186439" y="14734"/>
                </a:lnTo>
                <a:lnTo>
                  <a:pt x="1437233" y="58936"/>
                </a:lnTo>
                <a:lnTo>
                  <a:pt x="1670391" y="132606"/>
                </a:lnTo>
                <a:lnTo>
                  <a:pt x="1876425" y="235744"/>
                </a:lnTo>
              </a:path>
            </a:pathLst>
          </a:custGeom>
          <a:noFill/>
          <a:ln w="19050">
            <a:solidFill>
              <a:srgbClr val="7358B5"/>
            </a:solidFill>
            <a:prstDash val="solid"/>
          </a:ln>
        </p:spPr>
      </p:sp>
      <p:sp>
        <p:nvSpPr>
          <p:cNvPr id="176" name="0375 Editable vector line">
            <a:extLst>
              <a:ext uri="{FF2B5EF4-FFF2-40B4-BE49-F238E27FC236}">
                <a16:creationId xmlns:a16="http://schemas.microsoft.com/office/drawing/2014/main" id="{0E388455-CC2F-21AD-C228-1176067FC6E8}"/>
              </a:ext>
            </a:extLst>
          </p:cNvPr>
          <p:cNvSpPr>
            <a:spLocks noGrp="1"/>
          </p:cNvSpPr>
          <p:nvPr/>
        </p:nvSpPr>
        <p:spPr>
          <a:xfrm>
            <a:off x="10770066" y="7033684"/>
            <a:ext cx="1748366" cy="206342"/>
          </a:xfrm>
          <a:custGeom>
            <a:avLst/>
            <a:gdLst/>
            <a:ahLst/>
            <a:cxnLst/>
            <a:rect l="0" t="0" r="0" b="0"/>
            <a:pathLst>
              <a:path w="1876425" h="221456">
                <a:moveTo>
                  <a:pt x="1876425" y="0"/>
                </a:moveTo>
                <a:lnTo>
                  <a:pt x="1665703" y="96887"/>
                </a:lnTo>
                <a:lnTo>
                  <a:pt x="1431875" y="166092"/>
                </a:lnTo>
                <a:lnTo>
                  <a:pt x="1183091" y="207615"/>
                </a:lnTo>
                <a:lnTo>
                  <a:pt x="927497" y="221456"/>
                </a:lnTo>
                <a:lnTo>
                  <a:pt x="673243" y="207615"/>
                </a:lnTo>
                <a:lnTo>
                  <a:pt x="428476" y="166092"/>
                </a:lnTo>
                <a:lnTo>
                  <a:pt x="201346" y="96887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358B5"/>
            </a:solidFill>
            <a:prstDash val="solid"/>
          </a:ln>
        </p:spPr>
      </p:sp>
      <p:sp>
        <p:nvSpPr>
          <p:cNvPr id="178" name="0377 Text Half A RNA → Half B Force">
            <a:extLst>
              <a:ext uri="{FF2B5EF4-FFF2-40B4-BE49-F238E27FC236}">
                <a16:creationId xmlns:a16="http://schemas.microsoft.com/office/drawing/2014/main" id="{CE3D8340-1294-5F41-38C5-A97B44284172}"/>
              </a:ext>
            </a:extLst>
          </p:cNvPr>
          <p:cNvSpPr>
            <a:spLocks noGrp="1"/>
          </p:cNvSpPr>
          <p:nvPr/>
        </p:nvSpPr>
        <p:spPr>
          <a:xfrm>
            <a:off x="10786041" y="5574554"/>
            <a:ext cx="1732391" cy="1474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878" b="0" i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818" dirty="0">
                <a:solidFill>
                  <a:srgbClr val="8A79B4"/>
                </a:solidFill>
                <a:latin typeface="Arial"/>
                <a:ea typeface="Arial"/>
                <a:cs typeface="Arial"/>
              </a:rPr>
              <a:t>Half A RNA → Half B Force</a:t>
            </a:r>
          </a:p>
        </p:txBody>
      </p:sp>
      <p:sp>
        <p:nvSpPr>
          <p:cNvPr id="180" name="0378 Text Half B RNA → Half A Force">
            <a:extLst>
              <a:ext uri="{FF2B5EF4-FFF2-40B4-BE49-F238E27FC236}">
                <a16:creationId xmlns:a16="http://schemas.microsoft.com/office/drawing/2014/main" id="{FEC74F75-783E-3390-A46F-400F366E6E21}"/>
              </a:ext>
            </a:extLst>
          </p:cNvPr>
          <p:cNvSpPr>
            <a:spLocks noGrp="1"/>
          </p:cNvSpPr>
          <p:nvPr/>
        </p:nvSpPr>
        <p:spPr>
          <a:xfrm>
            <a:off x="10773615" y="7312038"/>
            <a:ext cx="1732391" cy="1474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878" b="0" i="0">
                <a:solidFill>
                  <a:srgbClr val="7358B5"/>
                </a:solidFill>
                <a:latin typeface="Arial"/>
                <a:ea typeface="Arial"/>
                <a:cs typeface="Arial"/>
              </a:defRPr>
            </a:pPr>
            <a:r>
              <a:rPr sz="818">
                <a:solidFill>
                  <a:srgbClr val="7358B5"/>
                </a:solidFill>
                <a:latin typeface="Arial"/>
                <a:ea typeface="Arial"/>
                <a:cs typeface="Arial"/>
              </a:rPr>
              <a:t>Half B RNA → Half A Force</a:t>
            </a:r>
          </a:p>
        </p:txBody>
      </p:sp>
      <p:sp>
        <p:nvSpPr>
          <p:cNvPr id="182" name="TextBox 47">
            <a:extLst>
              <a:ext uri="{FF2B5EF4-FFF2-40B4-BE49-F238E27FC236}">
                <a16:creationId xmlns:a16="http://schemas.microsoft.com/office/drawing/2014/main" id="{F79B6187-875E-DB17-8981-D726024169D9}"/>
              </a:ext>
            </a:extLst>
          </p:cNvPr>
          <p:cNvSpPr txBox="1"/>
          <p:nvPr/>
        </p:nvSpPr>
        <p:spPr>
          <a:xfrm>
            <a:off x="478870" y="1390934"/>
            <a:ext cx="2157984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200" b="0" dirty="0">
                <a:solidFill>
                  <a:srgbClr val="22272B"/>
                </a:solidFill>
                <a:latin typeface="Arial"/>
              </a:rPr>
              <a:t>adult LV failing vs non-failing</a:t>
            </a:r>
          </a:p>
        </p:txBody>
      </p:sp>
      <p:sp>
        <p:nvSpPr>
          <p:cNvPr id="184" name="TextBox 81">
            <a:extLst>
              <a:ext uri="{FF2B5EF4-FFF2-40B4-BE49-F238E27FC236}">
                <a16:creationId xmlns:a16="http://schemas.microsoft.com/office/drawing/2014/main" id="{943EB6B7-295D-1767-FA96-DE0AA3CD43F8}"/>
              </a:ext>
            </a:extLst>
          </p:cNvPr>
          <p:cNvSpPr txBox="1"/>
          <p:nvPr/>
        </p:nvSpPr>
        <p:spPr>
          <a:xfrm>
            <a:off x="3064664" y="1267173"/>
            <a:ext cx="1834171" cy="57246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dirty="0">
                <a:solidFill>
                  <a:srgbClr val="22272B"/>
                </a:solidFill>
                <a:latin typeface="Arial"/>
              </a:rPr>
              <a:t>fixed gene weights;</a:t>
            </a:r>
          </a:p>
          <a:p>
            <a:pPr algn="ctr">
              <a:spcAft>
                <a:spcPts val="0"/>
              </a:spcAft>
            </a:pPr>
            <a:r>
              <a:rPr sz="1200" b="0" dirty="0">
                <a:solidFill>
                  <a:srgbClr val="22272B"/>
                </a:solidFill>
                <a:latin typeface="Arial"/>
              </a:rPr>
              <a:t>not tuned on functional</a:t>
            </a:r>
          </a:p>
          <a:p>
            <a:pPr algn="ctr">
              <a:spcAft>
                <a:spcPts val="0"/>
              </a:spcAft>
            </a:pPr>
            <a:r>
              <a:rPr sz="1200" b="0" dirty="0">
                <a:solidFill>
                  <a:srgbClr val="22272B"/>
                </a:solidFill>
                <a:latin typeface="Arial"/>
              </a:rPr>
              <a:t>outcomes</a:t>
            </a:r>
          </a:p>
        </p:txBody>
      </p:sp>
      <p:sp>
        <p:nvSpPr>
          <p:cNvPr id="186" name="TextBox 114">
            <a:extLst>
              <a:ext uri="{FF2B5EF4-FFF2-40B4-BE49-F238E27FC236}">
                <a16:creationId xmlns:a16="http://schemas.microsoft.com/office/drawing/2014/main" id="{8ABCB5E3-ADEF-200B-7C78-41082B8486C9}"/>
              </a:ext>
            </a:extLst>
          </p:cNvPr>
          <p:cNvSpPr txBox="1"/>
          <p:nvPr/>
        </p:nvSpPr>
        <p:spPr>
          <a:xfrm>
            <a:off x="5763711" y="1269422"/>
            <a:ext cx="1481328" cy="57246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dirty="0">
                <a:solidFill>
                  <a:srgbClr val="22272B"/>
                </a:solidFill>
                <a:latin typeface="Arial"/>
              </a:rPr>
              <a:t>82 ligands, 382 paired organoids;</a:t>
            </a:r>
          </a:p>
          <a:p>
            <a:pPr algn="ctr">
              <a:spcAft>
                <a:spcPts val="0"/>
              </a:spcAft>
            </a:pPr>
            <a:r>
              <a:rPr sz="1200" b="0" dirty="0">
                <a:solidFill>
                  <a:srgbClr val="22272B"/>
                </a:solidFill>
                <a:latin typeface="Arial"/>
              </a:rPr>
              <a:t>RNA + 24-h Force</a:t>
            </a:r>
          </a:p>
        </p:txBody>
      </p:sp>
      <p:sp>
        <p:nvSpPr>
          <p:cNvPr id="188" name="TextBox 130">
            <a:extLst>
              <a:ext uri="{FF2B5EF4-FFF2-40B4-BE49-F238E27FC236}">
                <a16:creationId xmlns:a16="http://schemas.microsoft.com/office/drawing/2014/main" id="{41EDF499-C53A-3429-562F-7B4921524BE8}"/>
              </a:ext>
            </a:extLst>
          </p:cNvPr>
          <p:cNvSpPr txBox="1"/>
          <p:nvPr/>
        </p:nvSpPr>
        <p:spPr>
          <a:xfrm>
            <a:off x="8396028" y="1911811"/>
            <a:ext cx="2633472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200" b="0" dirty="0">
                <a:solidFill>
                  <a:srgbClr val="22272B"/>
                </a:solidFill>
                <a:latin typeface="Arial"/>
              </a:rPr>
              <a:t>HF-concordant vs HF-discordant</a:t>
            </a:r>
          </a:p>
        </p:txBody>
      </p:sp>
      <p:sp>
        <p:nvSpPr>
          <p:cNvPr id="190" name="TextBox 207">
            <a:extLst>
              <a:ext uri="{FF2B5EF4-FFF2-40B4-BE49-F238E27FC236}">
                <a16:creationId xmlns:a16="http://schemas.microsoft.com/office/drawing/2014/main" id="{FCF3BA18-326C-70C9-8B1A-0F107B8E8188}"/>
              </a:ext>
            </a:extLst>
          </p:cNvPr>
          <p:cNvSpPr txBox="1"/>
          <p:nvPr/>
        </p:nvSpPr>
        <p:spPr>
          <a:xfrm>
            <a:off x="8396028" y="3016248"/>
            <a:ext cx="2633472" cy="57246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dirty="0">
                <a:solidFill>
                  <a:srgbClr val="22272B"/>
                </a:solidFill>
                <a:latin typeface="Arial"/>
              </a:rPr>
              <a:t>cross-half wells, ligand class, plate,</a:t>
            </a:r>
          </a:p>
          <a:p>
            <a:pPr algn="ctr">
              <a:spcAft>
                <a:spcPts val="0"/>
              </a:spcAft>
            </a:pPr>
            <a:r>
              <a:rPr sz="1200" b="0" dirty="0">
                <a:solidFill>
                  <a:srgbClr val="22272B"/>
                </a:solidFill>
                <a:latin typeface="Arial"/>
              </a:rPr>
              <a:t>generic-response burden, temporal triangulation</a:t>
            </a:r>
          </a:p>
        </p:txBody>
      </p:sp>
      <p:sp>
        <p:nvSpPr>
          <p:cNvPr id="192" name="TextBox 258">
            <a:extLst>
              <a:ext uri="{FF2B5EF4-FFF2-40B4-BE49-F238E27FC236}">
                <a16:creationId xmlns:a16="http://schemas.microsoft.com/office/drawing/2014/main" id="{0376B1E6-EA87-AA5A-9334-3225FA1C848F}"/>
              </a:ext>
            </a:extLst>
          </p:cNvPr>
          <p:cNvSpPr txBox="1"/>
          <p:nvPr/>
        </p:nvSpPr>
        <p:spPr>
          <a:xfrm>
            <a:off x="5638163" y="3138564"/>
            <a:ext cx="1828800" cy="57246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dirty="0">
                <a:solidFill>
                  <a:srgbClr val="22272B"/>
                </a:solidFill>
                <a:latin typeface="Arial"/>
              </a:rPr>
              <a:t>full-expression cohort;</a:t>
            </a:r>
          </a:p>
          <a:p>
            <a:pPr algn="ctr">
              <a:spcAft>
                <a:spcPts val="0"/>
              </a:spcAft>
            </a:pPr>
            <a:r>
              <a:rPr sz="1200" b="0" dirty="0">
                <a:solidFill>
                  <a:srgbClr val="22272B"/>
                </a:solidFill>
                <a:latin typeface="Arial"/>
              </a:rPr>
              <a:t>21 failing, 5 non-failing donors</a:t>
            </a:r>
          </a:p>
        </p:txBody>
      </p:sp>
      <p:sp>
        <p:nvSpPr>
          <p:cNvPr id="202" name="0381 Editable circle">
            <a:extLst>
              <a:ext uri="{FF2B5EF4-FFF2-40B4-BE49-F238E27FC236}">
                <a16:creationId xmlns:a16="http://schemas.microsoft.com/office/drawing/2014/main" id="{7C47D426-C08E-ECE5-44CB-5ED0B0ECD2C2}"/>
              </a:ext>
            </a:extLst>
          </p:cNvPr>
          <p:cNvSpPr>
            <a:spLocks noGrp="1"/>
          </p:cNvSpPr>
          <p:nvPr/>
        </p:nvSpPr>
        <p:spPr>
          <a:xfrm>
            <a:off x="6127862" y="7796016"/>
            <a:ext cx="319498" cy="319498"/>
          </a:xfrm>
          <a:prstGeom prst="ellipse">
            <a:avLst/>
          </a:prstGeom>
          <a:solidFill>
            <a:srgbClr val="2D9871"/>
          </a:solidFill>
          <a:ln w="0">
            <a:noFill/>
            <a:prstDash val="solid"/>
          </a:ln>
        </p:spPr>
      </p:sp>
      <p:sp>
        <p:nvSpPr>
          <p:cNvPr id="204" name="0382 Editable vector line">
            <a:extLst>
              <a:ext uri="{FF2B5EF4-FFF2-40B4-BE49-F238E27FC236}">
                <a16:creationId xmlns:a16="http://schemas.microsoft.com/office/drawing/2014/main" id="{C3272C47-5B7E-A0FC-11F0-7FFCC102BAE5}"/>
              </a:ext>
            </a:extLst>
          </p:cNvPr>
          <p:cNvSpPr>
            <a:spLocks noGrp="1"/>
          </p:cNvSpPr>
          <p:nvPr/>
        </p:nvSpPr>
        <p:spPr>
          <a:xfrm>
            <a:off x="6198862" y="7875891"/>
            <a:ext cx="186374" cy="141999"/>
          </a:xfrm>
          <a:custGeom>
            <a:avLst/>
            <a:gdLst/>
            <a:ahLst/>
            <a:cxnLst/>
            <a:rect l="0" t="0" r="0" b="0"/>
            <a:pathLst>
              <a:path w="200025" h="152400">
                <a:moveTo>
                  <a:pt x="0" y="85725"/>
                </a:moveTo>
                <a:lnTo>
                  <a:pt x="66675" y="152400"/>
                </a:lnTo>
                <a:lnTo>
                  <a:pt x="200025" y="0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206" name="0383 Text Adult-HF molecular anchoring">
            <a:extLst>
              <a:ext uri="{FF2B5EF4-FFF2-40B4-BE49-F238E27FC236}">
                <a16:creationId xmlns:a16="http://schemas.microsoft.com/office/drawing/2014/main" id="{D4047FEB-A5E5-6BB3-B376-6A858404F970}"/>
              </a:ext>
            </a:extLst>
          </p:cNvPr>
          <p:cNvSpPr>
            <a:spLocks noGrp="1"/>
          </p:cNvSpPr>
          <p:nvPr/>
        </p:nvSpPr>
        <p:spPr>
          <a:xfrm>
            <a:off x="6637013" y="7732565"/>
            <a:ext cx="2505790" cy="1789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65" b="1" i="0">
                <a:solidFill>
                  <a:srgbClr val="006F6D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006F6D"/>
                </a:solidFill>
                <a:latin typeface="Arial"/>
                <a:ea typeface="Arial"/>
                <a:cs typeface="Arial"/>
              </a:rPr>
              <a:t>Adult-HF molecular anchoring</a:t>
            </a:r>
          </a:p>
        </p:txBody>
      </p:sp>
      <p:sp>
        <p:nvSpPr>
          <p:cNvPr id="208" name="0384 Text supported">
            <a:extLst>
              <a:ext uri="{FF2B5EF4-FFF2-40B4-BE49-F238E27FC236}">
                <a16:creationId xmlns:a16="http://schemas.microsoft.com/office/drawing/2014/main" id="{625AB3F1-2033-0806-4FA6-12A1F3EC9188}"/>
              </a:ext>
            </a:extLst>
          </p:cNvPr>
          <p:cNvSpPr>
            <a:spLocks noGrp="1"/>
          </p:cNvSpPr>
          <p:nvPr/>
        </p:nvSpPr>
        <p:spPr>
          <a:xfrm>
            <a:off x="7233113" y="7918553"/>
            <a:ext cx="1007928" cy="2142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212" name="0389 Text Universal functional transport">
            <a:extLst>
              <a:ext uri="{FF2B5EF4-FFF2-40B4-BE49-F238E27FC236}">
                <a16:creationId xmlns:a16="http://schemas.microsoft.com/office/drawing/2014/main" id="{3F7D76C5-4A3A-8398-9407-BD78260CFB2C}"/>
              </a:ext>
            </a:extLst>
          </p:cNvPr>
          <p:cNvSpPr>
            <a:spLocks noGrp="1"/>
          </p:cNvSpPr>
          <p:nvPr/>
        </p:nvSpPr>
        <p:spPr>
          <a:xfrm>
            <a:off x="10161009" y="7748420"/>
            <a:ext cx="2511612" cy="1701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>
              <a:defRPr sz="1013" b="1" i="0">
                <a:solidFill>
                  <a:srgbClr val="B93E2B"/>
                </a:solidFill>
                <a:latin typeface="Arial"/>
                <a:ea typeface="Arial"/>
                <a:cs typeface="Arial"/>
              </a:defRPr>
            </a:pPr>
            <a:r>
              <a:rPr lang="en-US" sz="1200" b="1" dirty="0">
                <a:solidFill>
                  <a:srgbClr val="B93E2B"/>
                </a:solidFill>
                <a:latin typeface="Arial"/>
                <a:ea typeface="Arial"/>
                <a:cs typeface="Arial"/>
              </a:rPr>
              <a:t>Cross-system functional transport</a:t>
            </a:r>
            <a:endParaRPr sz="1200" b="1" dirty="0">
              <a:solidFill>
                <a:srgbClr val="B93E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4" name="0390 Text not supported">
            <a:extLst>
              <a:ext uri="{FF2B5EF4-FFF2-40B4-BE49-F238E27FC236}">
                <a16:creationId xmlns:a16="http://schemas.microsoft.com/office/drawing/2014/main" id="{06381E3F-14F9-6FAE-D696-0BEB94222282}"/>
              </a:ext>
            </a:extLst>
          </p:cNvPr>
          <p:cNvSpPr>
            <a:spLocks noGrp="1"/>
          </p:cNvSpPr>
          <p:nvPr/>
        </p:nvSpPr>
        <p:spPr>
          <a:xfrm>
            <a:off x="10899119" y="7918553"/>
            <a:ext cx="1424341" cy="2142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01820"/>
                </a:solidFill>
                <a:latin typeface="Arial"/>
                <a:ea typeface="Arial"/>
                <a:cs typeface="Arial"/>
              </a:rPr>
              <a:t>not supported</a:t>
            </a:r>
          </a:p>
        </p:txBody>
      </p:sp>
      <p:sp>
        <p:nvSpPr>
          <p:cNvPr id="216" name="0392 Text Molecular disease resemblance and functional transport">
            <a:extLst>
              <a:ext uri="{FF2B5EF4-FFF2-40B4-BE49-F238E27FC236}">
                <a16:creationId xmlns:a16="http://schemas.microsoft.com/office/drawing/2014/main" id="{6C4DECF9-C80F-784B-7097-993A2B50BC8A}"/>
              </a:ext>
            </a:extLst>
          </p:cNvPr>
          <p:cNvSpPr>
            <a:spLocks noGrp="1"/>
          </p:cNvSpPr>
          <p:nvPr/>
        </p:nvSpPr>
        <p:spPr>
          <a:xfrm>
            <a:off x="6280263" y="8268016"/>
            <a:ext cx="6425905" cy="320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33" b="1" i="0">
                <a:solidFill>
                  <a:srgbClr val="132132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32132"/>
                </a:solidFill>
                <a:latin typeface="Arial"/>
                <a:ea typeface="Arial"/>
                <a:cs typeface="Arial"/>
              </a:rPr>
              <a:t>Molecular disease resemblance and functional transportability are distinct properties.</a:t>
            </a:r>
          </a:p>
        </p:txBody>
      </p:sp>
      <p:sp>
        <p:nvSpPr>
          <p:cNvPr id="220" name="0387 Editable circle">
            <a:extLst>
              <a:ext uri="{FF2B5EF4-FFF2-40B4-BE49-F238E27FC236}">
                <a16:creationId xmlns:a16="http://schemas.microsoft.com/office/drawing/2014/main" id="{1B631DAE-69E7-3556-83DB-6FA154CE0D57}"/>
              </a:ext>
            </a:extLst>
          </p:cNvPr>
          <p:cNvSpPr>
            <a:spLocks noGrp="1"/>
          </p:cNvSpPr>
          <p:nvPr/>
        </p:nvSpPr>
        <p:spPr>
          <a:xfrm>
            <a:off x="9592432" y="7799196"/>
            <a:ext cx="319498" cy="31949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3372F"/>
            </a:solidFill>
            <a:prstDash val="solid"/>
          </a:ln>
        </p:spPr>
      </p:sp>
      <p:sp>
        <p:nvSpPr>
          <p:cNvPr id="222" name="0388 Editable line">
            <a:extLst>
              <a:ext uri="{FF2B5EF4-FFF2-40B4-BE49-F238E27FC236}">
                <a16:creationId xmlns:a16="http://schemas.microsoft.com/office/drawing/2014/main" id="{FB3BB17A-3650-0875-8628-4768154060E0}"/>
              </a:ext>
            </a:extLst>
          </p:cNvPr>
          <p:cNvSpPr>
            <a:spLocks noGrp="1"/>
          </p:cNvSpPr>
          <p:nvPr/>
        </p:nvSpPr>
        <p:spPr>
          <a:xfrm>
            <a:off x="9645681" y="7852446"/>
            <a:ext cx="212999" cy="212999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228600"/>
                </a:moveTo>
                <a:lnTo>
                  <a:pt x="228600" y="0"/>
                </a:lnTo>
              </a:path>
            </a:pathLst>
          </a:custGeom>
          <a:noFill/>
          <a:ln w="28575">
            <a:solidFill>
              <a:srgbClr val="D3372F"/>
            </a:solidFill>
            <a:prstDash val="solid"/>
          </a:ln>
        </p:spPr>
      </p:sp>
      <p:grpSp>
        <p:nvGrpSpPr>
          <p:cNvPr id="225" name="组合 224">
            <a:extLst>
              <a:ext uri="{FF2B5EF4-FFF2-40B4-BE49-F238E27FC236}">
                <a16:creationId xmlns:a16="http://schemas.microsoft.com/office/drawing/2014/main" id="{915ACCA6-7BC1-6408-0435-70DD8587DC0E}"/>
              </a:ext>
            </a:extLst>
          </p:cNvPr>
          <p:cNvGrpSpPr/>
          <p:nvPr/>
        </p:nvGrpSpPr>
        <p:grpSpPr>
          <a:xfrm>
            <a:off x="7812164" y="1016535"/>
            <a:ext cx="262890" cy="2603501"/>
            <a:chOff x="8125066" y="1819957"/>
            <a:chExt cx="257175" cy="1095375"/>
          </a:xfrm>
        </p:grpSpPr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944E49AA-8616-7734-8736-786D615E45FB}"/>
                </a:ext>
              </a:extLst>
            </p:cNvPr>
            <p:cNvCxnSpPr>
              <a:cxnSpLocks/>
            </p:cNvCxnSpPr>
            <p:nvPr/>
          </p:nvCxnSpPr>
          <p:spPr>
            <a:xfrm>
              <a:off x="8125066" y="1826272"/>
              <a:ext cx="257175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79575532-58BA-D188-DB91-F3986F1C43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82241" y="1819957"/>
              <a:ext cx="0" cy="1095375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>
              <a:extLst>
                <a:ext uri="{FF2B5EF4-FFF2-40B4-BE49-F238E27FC236}">
                  <a16:creationId xmlns:a16="http://schemas.microsoft.com/office/drawing/2014/main" id="{CDC1DA78-CBE0-4D56-01BF-0B79CB67BC32}"/>
                </a:ext>
              </a:extLst>
            </p:cNvPr>
            <p:cNvCxnSpPr>
              <a:cxnSpLocks/>
            </p:cNvCxnSpPr>
            <p:nvPr/>
          </p:nvCxnSpPr>
          <p:spPr>
            <a:xfrm>
              <a:off x="8125066" y="2910610"/>
              <a:ext cx="257175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8" name="0004 Editable rectangle">
            <a:extLst>
              <a:ext uri="{FF2B5EF4-FFF2-40B4-BE49-F238E27FC236}">
                <a16:creationId xmlns:a16="http://schemas.microsoft.com/office/drawing/2014/main" id="{4F862AB8-5B15-E7EA-428C-AF08C6B4CE1A}"/>
              </a:ext>
            </a:extLst>
          </p:cNvPr>
          <p:cNvSpPr>
            <a:spLocks noGrp="1"/>
          </p:cNvSpPr>
          <p:nvPr/>
        </p:nvSpPr>
        <p:spPr>
          <a:xfrm>
            <a:off x="547432" y="2859840"/>
            <a:ext cx="2001561" cy="851188"/>
          </a:xfrm>
          <a:prstGeom prst="roundRect">
            <a:avLst>
              <a:gd name="adj" fmla="val 2956"/>
            </a:avLst>
          </a:prstGeom>
          <a:solidFill>
            <a:srgbClr val="E1EBF5"/>
          </a:solidFill>
          <a:ln w="17145">
            <a:solidFill>
              <a:srgbClr val="3477B7"/>
            </a:solidFill>
            <a:prstDash val="solid"/>
          </a:ln>
        </p:spPr>
      </p:sp>
      <p:sp>
        <p:nvSpPr>
          <p:cNvPr id="194" name="TextBox 262">
            <a:extLst>
              <a:ext uri="{FF2B5EF4-FFF2-40B4-BE49-F238E27FC236}">
                <a16:creationId xmlns:a16="http://schemas.microsoft.com/office/drawing/2014/main" id="{14C61347-1240-8374-C09E-CFD8D5D5C654}"/>
              </a:ext>
            </a:extLst>
          </p:cNvPr>
          <p:cNvSpPr txBox="1"/>
          <p:nvPr/>
        </p:nvSpPr>
        <p:spPr>
          <a:xfrm>
            <a:off x="629276" y="2884414"/>
            <a:ext cx="1948612" cy="20313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 dirty="0" err="1">
                <a:solidFill>
                  <a:srgbClr val="2F5D9C"/>
                </a:solidFill>
                <a:latin typeface="Arial"/>
              </a:rPr>
              <a:t>hiPSC</a:t>
            </a:r>
            <a:r>
              <a:rPr sz="1200" b="1" dirty="0">
                <a:solidFill>
                  <a:srgbClr val="2F5D9C"/>
                </a:solidFill>
                <a:latin typeface="Arial"/>
              </a:rPr>
              <a:t>-CM pharmacology</a:t>
            </a:r>
          </a:p>
        </p:txBody>
      </p:sp>
      <p:sp>
        <p:nvSpPr>
          <p:cNvPr id="196" name="TextBox 314">
            <a:extLst>
              <a:ext uri="{FF2B5EF4-FFF2-40B4-BE49-F238E27FC236}">
                <a16:creationId xmlns:a16="http://schemas.microsoft.com/office/drawing/2014/main" id="{71D0FCB7-FA8E-A25A-D69E-2821E623EDF4}"/>
              </a:ext>
            </a:extLst>
          </p:cNvPr>
          <p:cNvSpPr txBox="1"/>
          <p:nvPr/>
        </p:nvSpPr>
        <p:spPr>
          <a:xfrm>
            <a:off x="547433" y="3196071"/>
            <a:ext cx="1878986" cy="38779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dirty="0">
                <a:solidFill>
                  <a:srgbClr val="22272B"/>
                </a:solidFill>
                <a:latin typeface="Arial"/>
              </a:rPr>
              <a:t>RNA + </a:t>
            </a:r>
            <a:r>
              <a:rPr sz="1200" b="0" dirty="0" err="1">
                <a:solidFill>
                  <a:srgbClr val="22272B"/>
                </a:solidFill>
                <a:latin typeface="Arial"/>
              </a:rPr>
              <a:t>CaT</a:t>
            </a:r>
            <a:r>
              <a:rPr sz="1200" b="0" dirty="0">
                <a:solidFill>
                  <a:srgbClr val="22272B"/>
                </a:solidFill>
                <a:latin typeface="Arial"/>
              </a:rPr>
              <a:t> amplitude;</a:t>
            </a:r>
          </a:p>
          <a:p>
            <a:pPr algn="ctr">
              <a:spcAft>
                <a:spcPts val="0"/>
              </a:spcAft>
            </a:pPr>
            <a:r>
              <a:rPr sz="1200" b="0" dirty="0">
                <a:solidFill>
                  <a:srgbClr val="22272B"/>
                </a:solidFill>
                <a:latin typeface="Arial"/>
              </a:rPr>
              <a:t>compound/dose level</a:t>
            </a:r>
          </a:p>
        </p:txBody>
      </p:sp>
      <p:sp>
        <p:nvSpPr>
          <p:cNvPr id="232" name="0030 Editable rectangle">
            <a:extLst>
              <a:ext uri="{FF2B5EF4-FFF2-40B4-BE49-F238E27FC236}">
                <a16:creationId xmlns:a16="http://schemas.microsoft.com/office/drawing/2014/main" id="{DB115EB5-F6A3-CE39-9B36-C132E466F28A}"/>
              </a:ext>
            </a:extLst>
          </p:cNvPr>
          <p:cNvSpPr>
            <a:spLocks noGrp="1"/>
          </p:cNvSpPr>
          <p:nvPr/>
        </p:nvSpPr>
        <p:spPr>
          <a:xfrm>
            <a:off x="2714331" y="2859840"/>
            <a:ext cx="2093407" cy="851188"/>
          </a:xfrm>
          <a:prstGeom prst="roundRect">
            <a:avLst>
              <a:gd name="adj" fmla="val 2941"/>
            </a:avLst>
          </a:prstGeom>
          <a:solidFill>
            <a:srgbClr val="D1EBEB"/>
          </a:solidFill>
          <a:ln w="17145">
            <a:solidFill>
              <a:srgbClr val="078E87"/>
            </a:solidFill>
            <a:prstDash val="solid"/>
          </a:ln>
        </p:spPr>
      </p:sp>
      <p:sp>
        <p:nvSpPr>
          <p:cNvPr id="198" name="TextBox 316">
            <a:extLst>
              <a:ext uri="{FF2B5EF4-FFF2-40B4-BE49-F238E27FC236}">
                <a16:creationId xmlns:a16="http://schemas.microsoft.com/office/drawing/2014/main" id="{09286212-FAA9-B39A-4FF0-EDB970444727}"/>
              </a:ext>
            </a:extLst>
          </p:cNvPr>
          <p:cNvSpPr txBox="1"/>
          <p:nvPr/>
        </p:nvSpPr>
        <p:spPr>
          <a:xfrm>
            <a:off x="2911277" y="2859840"/>
            <a:ext cx="1948937" cy="20313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 dirty="0">
                <a:solidFill>
                  <a:srgbClr val="19786E"/>
                </a:solidFill>
                <a:latin typeface="Arial"/>
              </a:rPr>
              <a:t>Engineered heart tissue</a:t>
            </a:r>
          </a:p>
        </p:txBody>
      </p:sp>
      <p:sp>
        <p:nvSpPr>
          <p:cNvPr id="200" name="TextBox 372">
            <a:extLst>
              <a:ext uri="{FF2B5EF4-FFF2-40B4-BE49-F238E27FC236}">
                <a16:creationId xmlns:a16="http://schemas.microsoft.com/office/drawing/2014/main" id="{C4769C2E-3A53-5704-A767-A66086BFD4F2}"/>
              </a:ext>
            </a:extLst>
          </p:cNvPr>
          <p:cNvSpPr txBox="1"/>
          <p:nvPr/>
        </p:nvSpPr>
        <p:spPr>
          <a:xfrm>
            <a:off x="2950634" y="3177438"/>
            <a:ext cx="1614712" cy="38779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dirty="0">
                <a:solidFill>
                  <a:srgbClr val="22272B"/>
                </a:solidFill>
                <a:latin typeface="Arial"/>
              </a:rPr>
              <a:t>direct-Force challenge;</a:t>
            </a:r>
          </a:p>
          <a:p>
            <a:pPr algn="ctr">
              <a:spcAft>
                <a:spcPts val="0"/>
              </a:spcAft>
            </a:pPr>
            <a:r>
              <a:rPr sz="1200" b="0" dirty="0">
                <a:solidFill>
                  <a:srgbClr val="22272B"/>
                </a:solidFill>
                <a:latin typeface="Arial"/>
              </a:rPr>
              <a:t>condition level</a:t>
            </a:r>
          </a:p>
        </p:txBody>
      </p:sp>
      <p:sp>
        <p:nvSpPr>
          <p:cNvPr id="234" name="0374 Editable arrowhead">
            <a:extLst>
              <a:ext uri="{FF2B5EF4-FFF2-40B4-BE49-F238E27FC236}">
                <a16:creationId xmlns:a16="http://schemas.microsoft.com/office/drawing/2014/main" id="{F9A5BA5B-4964-45D8-DCF6-5EC5F662CF79}"/>
              </a:ext>
            </a:extLst>
          </p:cNvPr>
          <p:cNvSpPr>
            <a:spLocks noGrp="1"/>
          </p:cNvSpPr>
          <p:nvPr/>
        </p:nvSpPr>
        <p:spPr>
          <a:xfrm>
            <a:off x="12500061" y="5923704"/>
            <a:ext cx="68901" cy="54474"/>
          </a:xfrm>
          <a:custGeom>
            <a:avLst/>
            <a:gdLst/>
            <a:ahLst/>
            <a:cxnLst/>
            <a:rect l="0" t="0" r="0" b="0"/>
            <a:pathLst>
              <a:path w="73948" h="58464">
                <a:moveTo>
                  <a:pt x="73948" y="58464"/>
                </a:moveTo>
                <a:lnTo>
                  <a:pt x="0" y="57237"/>
                </a:lnTo>
                <a:lnTo>
                  <a:pt x="28652" y="0"/>
                </a:lnTo>
                <a:close/>
              </a:path>
            </a:pathLst>
          </a:custGeom>
          <a:solidFill>
            <a:srgbClr val="7358B5"/>
          </a:solidFill>
          <a:ln w="0">
            <a:noFill/>
            <a:prstDash val="solid"/>
          </a:ln>
        </p:spPr>
      </p:sp>
      <p:sp>
        <p:nvSpPr>
          <p:cNvPr id="236" name="0376 Editable arrowhead">
            <a:extLst>
              <a:ext uri="{FF2B5EF4-FFF2-40B4-BE49-F238E27FC236}">
                <a16:creationId xmlns:a16="http://schemas.microsoft.com/office/drawing/2014/main" id="{6A5FCB1E-F42A-40F2-6771-BADACFD3E3DA}"/>
              </a:ext>
            </a:extLst>
          </p:cNvPr>
          <p:cNvSpPr>
            <a:spLocks noGrp="1"/>
          </p:cNvSpPr>
          <p:nvPr/>
        </p:nvSpPr>
        <p:spPr>
          <a:xfrm>
            <a:off x="10721320" y="7008160"/>
            <a:ext cx="68911" cy="53809"/>
          </a:xfrm>
          <a:custGeom>
            <a:avLst/>
            <a:gdLst/>
            <a:ahLst/>
            <a:cxnLst/>
            <a:rect l="0" t="0" r="0" b="0"/>
            <a:pathLst>
              <a:path w="73958" h="57750">
                <a:moveTo>
                  <a:pt x="0" y="0"/>
                </a:moveTo>
                <a:lnTo>
                  <a:pt x="73958" y="72"/>
                </a:lnTo>
                <a:lnTo>
                  <a:pt x="46204" y="57750"/>
                </a:lnTo>
                <a:close/>
              </a:path>
            </a:pathLst>
          </a:custGeom>
          <a:solidFill>
            <a:srgbClr val="7358B5"/>
          </a:solidFill>
          <a:ln w="0">
            <a:noFill/>
            <a:prstDash val="solid"/>
          </a:ln>
        </p:spPr>
      </p:sp>
      <p:sp>
        <p:nvSpPr>
          <p:cNvPr id="238" name="TextBox 130">
            <a:extLst>
              <a:ext uri="{FF2B5EF4-FFF2-40B4-BE49-F238E27FC236}">
                <a16:creationId xmlns:a16="http://schemas.microsoft.com/office/drawing/2014/main" id="{0C4E1F56-D9A5-806E-6484-5A6B639ED4DF}"/>
              </a:ext>
            </a:extLst>
          </p:cNvPr>
          <p:cNvSpPr txBox="1"/>
          <p:nvPr/>
        </p:nvSpPr>
        <p:spPr>
          <a:xfrm>
            <a:off x="456811" y="112196"/>
            <a:ext cx="1969608" cy="51090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lang="en-US" sz="3200" b="1" dirty="0">
                <a:solidFill>
                  <a:srgbClr val="22272B"/>
                </a:solidFill>
                <a:latin typeface="Arial"/>
              </a:rPr>
              <a:t>a</a:t>
            </a:r>
            <a:r>
              <a:rPr lang="en-US" b="1" dirty="0">
                <a:solidFill>
                  <a:srgbClr val="22272B"/>
                </a:solidFill>
                <a:latin typeface="Arial"/>
              </a:rPr>
              <a:t>  </a:t>
            </a:r>
            <a:r>
              <a:rPr lang="en-US" sz="1600" b="1" dirty="0">
                <a:solidFill>
                  <a:srgbClr val="22272B"/>
                </a:solidFill>
                <a:latin typeface="Arial"/>
              </a:rPr>
              <a:t>Study workflow</a:t>
            </a:r>
            <a:endParaRPr sz="1600" b="1" dirty="0">
              <a:solidFill>
                <a:srgbClr val="22272B"/>
              </a:solidFill>
              <a:latin typeface="Arial"/>
            </a:endParaRPr>
          </a:p>
        </p:txBody>
      </p:sp>
      <p:sp>
        <p:nvSpPr>
          <p:cNvPr id="242" name="TextBox 130">
            <a:extLst>
              <a:ext uri="{FF2B5EF4-FFF2-40B4-BE49-F238E27FC236}">
                <a16:creationId xmlns:a16="http://schemas.microsoft.com/office/drawing/2014/main" id="{E92DA9E9-9603-D2A7-5ADA-6F3D63A1BCF2}"/>
              </a:ext>
            </a:extLst>
          </p:cNvPr>
          <p:cNvSpPr txBox="1"/>
          <p:nvPr/>
        </p:nvSpPr>
        <p:spPr>
          <a:xfrm>
            <a:off x="451464" y="4230996"/>
            <a:ext cx="3394025" cy="51090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lang="en-US" sz="3200" b="1" dirty="0">
                <a:solidFill>
                  <a:srgbClr val="22272B"/>
                </a:solidFill>
                <a:latin typeface="Arial"/>
              </a:rPr>
              <a:t>b</a:t>
            </a:r>
            <a:r>
              <a:rPr lang="en-US" b="1" dirty="0">
                <a:solidFill>
                  <a:srgbClr val="22272B"/>
                </a:solidFill>
                <a:latin typeface="Arial"/>
              </a:rPr>
              <a:t>  </a:t>
            </a:r>
            <a:r>
              <a:rPr lang="en-US" sz="1600" b="1" dirty="0">
                <a:solidFill>
                  <a:srgbClr val="22272B"/>
                </a:solidFill>
                <a:latin typeface="Arial"/>
              </a:rPr>
              <a:t>Evidence map across datasets</a:t>
            </a:r>
            <a:endParaRPr sz="1600" b="1" dirty="0">
              <a:solidFill>
                <a:srgbClr val="22272B"/>
              </a:solidFill>
              <a:latin typeface="Arial"/>
            </a:endParaRPr>
          </a:p>
        </p:txBody>
      </p:sp>
      <p:sp>
        <p:nvSpPr>
          <p:cNvPr id="244" name="TextBox 130">
            <a:extLst>
              <a:ext uri="{FF2B5EF4-FFF2-40B4-BE49-F238E27FC236}">
                <a16:creationId xmlns:a16="http://schemas.microsoft.com/office/drawing/2014/main" id="{C3B93064-189C-0C8D-9F2B-A1396D4AE299}"/>
              </a:ext>
            </a:extLst>
          </p:cNvPr>
          <p:cNvSpPr txBox="1"/>
          <p:nvPr/>
        </p:nvSpPr>
        <p:spPr>
          <a:xfrm>
            <a:off x="5972338" y="4235379"/>
            <a:ext cx="3394025" cy="51090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22272B"/>
                </a:solidFill>
                <a:latin typeface="Arial"/>
              </a:rPr>
              <a:t>c</a:t>
            </a:r>
            <a:r>
              <a:rPr lang="en-US" b="1" dirty="0">
                <a:solidFill>
                  <a:srgbClr val="22272B"/>
                </a:solidFill>
                <a:latin typeface="Arial"/>
              </a:rPr>
              <a:t>  </a:t>
            </a:r>
            <a:r>
              <a:rPr lang="en-US" sz="1600" b="1" dirty="0">
                <a:solidFill>
                  <a:srgbClr val="22272B"/>
                </a:solidFill>
                <a:latin typeface="Arial"/>
              </a:rPr>
              <a:t>Hierarchy and interpretation</a:t>
            </a:r>
            <a:endParaRPr sz="1600" b="1" dirty="0">
              <a:solidFill>
                <a:srgbClr val="22272B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60315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5F539D5-BE91-5481-D5AB-C1B43C222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087" y="943365"/>
            <a:ext cx="12175299" cy="317048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BBAB5C8-2E72-D0D2-1604-7882CB09B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438" y="5119056"/>
            <a:ext cx="4176938" cy="2801774"/>
          </a:xfrm>
          <a:prstGeom prst="rect">
            <a:avLst/>
          </a:prstGeom>
        </p:spPr>
      </p:pic>
      <p:sp>
        <p:nvSpPr>
          <p:cNvPr id="11" name="TextBox 130">
            <a:extLst>
              <a:ext uri="{FF2B5EF4-FFF2-40B4-BE49-F238E27FC236}">
                <a16:creationId xmlns:a16="http://schemas.microsoft.com/office/drawing/2014/main" id="{1B98CD4A-B8C5-DC1E-B67B-4FA6F23D0A86}"/>
              </a:ext>
            </a:extLst>
          </p:cNvPr>
          <p:cNvSpPr txBox="1"/>
          <p:nvPr/>
        </p:nvSpPr>
        <p:spPr>
          <a:xfrm>
            <a:off x="1039660" y="382533"/>
            <a:ext cx="745688" cy="51090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lang="en-US" sz="3200" b="1" dirty="0">
                <a:solidFill>
                  <a:srgbClr val="22272B"/>
                </a:solidFill>
                <a:latin typeface="Arial"/>
              </a:rPr>
              <a:t>a</a:t>
            </a:r>
            <a:endParaRPr sz="1600" b="1" dirty="0">
              <a:solidFill>
                <a:srgbClr val="22272B"/>
              </a:solidFill>
              <a:latin typeface="Arial"/>
            </a:endParaRPr>
          </a:p>
        </p:txBody>
      </p:sp>
      <p:sp>
        <p:nvSpPr>
          <p:cNvPr id="13" name="TextBox 130">
            <a:extLst>
              <a:ext uri="{FF2B5EF4-FFF2-40B4-BE49-F238E27FC236}">
                <a16:creationId xmlns:a16="http://schemas.microsoft.com/office/drawing/2014/main" id="{B89DB6A7-21BB-E258-F39C-3B9AE5DB60F3}"/>
              </a:ext>
            </a:extLst>
          </p:cNvPr>
          <p:cNvSpPr txBox="1"/>
          <p:nvPr/>
        </p:nvSpPr>
        <p:spPr>
          <a:xfrm>
            <a:off x="1039660" y="4355094"/>
            <a:ext cx="745688" cy="51090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lang="en-US" sz="3200" b="1" dirty="0">
                <a:solidFill>
                  <a:srgbClr val="22272B"/>
                </a:solidFill>
                <a:latin typeface="Arial"/>
              </a:rPr>
              <a:t>b</a:t>
            </a:r>
            <a:endParaRPr sz="1600" b="1" dirty="0">
              <a:solidFill>
                <a:srgbClr val="22272B"/>
              </a:solidFill>
              <a:latin typeface="Arial"/>
            </a:endParaRPr>
          </a:p>
        </p:txBody>
      </p:sp>
      <p:sp>
        <p:nvSpPr>
          <p:cNvPr id="15" name="TextBox 130">
            <a:extLst>
              <a:ext uri="{FF2B5EF4-FFF2-40B4-BE49-F238E27FC236}">
                <a16:creationId xmlns:a16="http://schemas.microsoft.com/office/drawing/2014/main" id="{B8278D5A-49A7-177D-BE89-FEE409A0107E}"/>
              </a:ext>
            </a:extLst>
          </p:cNvPr>
          <p:cNvSpPr txBox="1"/>
          <p:nvPr/>
        </p:nvSpPr>
        <p:spPr>
          <a:xfrm>
            <a:off x="5505570" y="4360998"/>
            <a:ext cx="745688" cy="51090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lang="en-US" sz="3200" b="1" dirty="0">
                <a:solidFill>
                  <a:srgbClr val="22272B"/>
                </a:solidFill>
                <a:latin typeface="Arial"/>
              </a:rPr>
              <a:t>c</a:t>
            </a:r>
            <a:endParaRPr sz="1600" b="1" dirty="0">
              <a:solidFill>
                <a:srgbClr val="22272B"/>
              </a:solidFill>
              <a:latin typeface="Arial"/>
            </a:endParaRPr>
          </a:p>
        </p:txBody>
      </p:sp>
      <p:sp>
        <p:nvSpPr>
          <p:cNvPr id="17" name="TextBox 130">
            <a:extLst>
              <a:ext uri="{FF2B5EF4-FFF2-40B4-BE49-F238E27FC236}">
                <a16:creationId xmlns:a16="http://schemas.microsoft.com/office/drawing/2014/main" id="{FA8CF619-A2BB-2BB8-1ADC-FCEEF52876D7}"/>
              </a:ext>
            </a:extLst>
          </p:cNvPr>
          <p:cNvSpPr txBox="1"/>
          <p:nvPr/>
        </p:nvSpPr>
        <p:spPr>
          <a:xfrm>
            <a:off x="9463005" y="4353562"/>
            <a:ext cx="745688" cy="51090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lang="en-US" sz="3200" b="1" dirty="0">
                <a:solidFill>
                  <a:srgbClr val="22272B"/>
                </a:solidFill>
                <a:latin typeface="Arial"/>
              </a:rPr>
              <a:t>d</a:t>
            </a:r>
            <a:endParaRPr sz="1600" b="1" dirty="0">
              <a:solidFill>
                <a:srgbClr val="22272B"/>
              </a:solidFill>
              <a:latin typeface="Arial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8FF94DF3-D25B-ECAC-DBF2-A1E4638D0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826" y="4936802"/>
            <a:ext cx="4051560" cy="292139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62C4AB52-D5AA-D55E-891F-0ACEBBB833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76496"/>
            <a:ext cx="3997171" cy="291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858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B029C-E67A-DDD6-3AFF-9F9A0041F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2BCBE517-542C-829B-37A1-808BCEDC3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84" y="972418"/>
            <a:ext cx="7178202" cy="728223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42DCE6B-3200-B8AC-3640-746A598C9B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070" t="24074"/>
          <a:stretch>
            <a:fillRect/>
          </a:stretch>
        </p:blipFill>
        <p:spPr>
          <a:xfrm>
            <a:off x="7700140" y="1625296"/>
            <a:ext cx="4728593" cy="228790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881FDDF-009E-B5B6-A54E-8D236918D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2584" y="1169400"/>
            <a:ext cx="4861606" cy="40922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D8A15AD-DA0B-8F65-8619-7CF7BC2E506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912"/>
          <a:stretch>
            <a:fillRect/>
          </a:stretch>
        </p:blipFill>
        <p:spPr>
          <a:xfrm>
            <a:off x="7662040" y="4394006"/>
            <a:ext cx="5010483" cy="4051146"/>
          </a:xfrm>
          <a:prstGeom prst="rect">
            <a:avLst/>
          </a:prstGeom>
        </p:spPr>
      </p:pic>
      <p:sp>
        <p:nvSpPr>
          <p:cNvPr id="19" name="TextBox 130">
            <a:extLst>
              <a:ext uri="{FF2B5EF4-FFF2-40B4-BE49-F238E27FC236}">
                <a16:creationId xmlns:a16="http://schemas.microsoft.com/office/drawing/2014/main" id="{91B2F969-8862-7EA1-37F4-87DA53F76987}"/>
              </a:ext>
            </a:extLst>
          </p:cNvPr>
          <p:cNvSpPr txBox="1"/>
          <p:nvPr/>
        </p:nvSpPr>
        <p:spPr>
          <a:xfrm>
            <a:off x="814192" y="480787"/>
            <a:ext cx="745688" cy="51090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lang="en-US" sz="3200" b="1" dirty="0">
                <a:solidFill>
                  <a:srgbClr val="22272B"/>
                </a:solidFill>
                <a:latin typeface="Arial"/>
              </a:rPr>
              <a:t>a</a:t>
            </a:r>
            <a:endParaRPr sz="1600" b="1" dirty="0">
              <a:solidFill>
                <a:srgbClr val="22272B"/>
              </a:solidFill>
              <a:latin typeface="Arial"/>
            </a:endParaRPr>
          </a:p>
        </p:txBody>
      </p:sp>
      <p:sp>
        <p:nvSpPr>
          <p:cNvPr id="23" name="TextBox 130">
            <a:extLst>
              <a:ext uri="{FF2B5EF4-FFF2-40B4-BE49-F238E27FC236}">
                <a16:creationId xmlns:a16="http://schemas.microsoft.com/office/drawing/2014/main" id="{63AB3614-F118-133A-C05A-77DB5A9B20B5}"/>
              </a:ext>
            </a:extLst>
          </p:cNvPr>
          <p:cNvSpPr txBox="1"/>
          <p:nvPr/>
        </p:nvSpPr>
        <p:spPr>
          <a:xfrm>
            <a:off x="7479039" y="611821"/>
            <a:ext cx="745688" cy="51090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lang="en-US" sz="3200" b="1" dirty="0">
                <a:solidFill>
                  <a:srgbClr val="22272B"/>
                </a:solidFill>
                <a:latin typeface="Arial"/>
              </a:rPr>
              <a:t>b</a:t>
            </a:r>
            <a:endParaRPr sz="1600" b="1" dirty="0">
              <a:solidFill>
                <a:srgbClr val="22272B"/>
              </a:solidFill>
              <a:latin typeface="Arial"/>
            </a:endParaRPr>
          </a:p>
        </p:txBody>
      </p:sp>
      <p:sp>
        <p:nvSpPr>
          <p:cNvPr id="25" name="TextBox 130">
            <a:extLst>
              <a:ext uri="{FF2B5EF4-FFF2-40B4-BE49-F238E27FC236}">
                <a16:creationId xmlns:a16="http://schemas.microsoft.com/office/drawing/2014/main" id="{51DBBBA9-07B1-0E3C-5320-108CA9442E3B}"/>
              </a:ext>
            </a:extLst>
          </p:cNvPr>
          <p:cNvSpPr txBox="1"/>
          <p:nvPr/>
        </p:nvSpPr>
        <p:spPr>
          <a:xfrm>
            <a:off x="7479039" y="3961810"/>
            <a:ext cx="745688" cy="51090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lang="en-US" sz="3200" b="1" dirty="0">
                <a:solidFill>
                  <a:srgbClr val="22272B"/>
                </a:solidFill>
                <a:latin typeface="Arial"/>
              </a:rPr>
              <a:t>c</a:t>
            </a:r>
            <a:endParaRPr sz="1600" b="1" dirty="0">
              <a:solidFill>
                <a:srgbClr val="22272B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1356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FD79D-52CF-AD62-C7A9-A4F4C4C35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A9AC32E-02BA-AC19-F0D5-CE04A4FEF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825" y="5011733"/>
            <a:ext cx="5760732" cy="365760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7D4AE80-C1B1-B16D-E16E-29E34E0DD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30" y="1271449"/>
            <a:ext cx="12009553" cy="35930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5457C4A-B427-9A0E-D8FF-2CA33E79F7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35" y="5011733"/>
            <a:ext cx="5394971" cy="3657607"/>
          </a:xfrm>
          <a:prstGeom prst="rect">
            <a:avLst/>
          </a:prstGeom>
        </p:spPr>
      </p:pic>
      <p:sp>
        <p:nvSpPr>
          <p:cNvPr id="9" name="TextBox 130">
            <a:extLst>
              <a:ext uri="{FF2B5EF4-FFF2-40B4-BE49-F238E27FC236}">
                <a16:creationId xmlns:a16="http://schemas.microsoft.com/office/drawing/2014/main" id="{8AF48B42-BD98-332C-8FC2-DEF85A59D827}"/>
              </a:ext>
            </a:extLst>
          </p:cNvPr>
          <p:cNvSpPr txBox="1"/>
          <p:nvPr/>
        </p:nvSpPr>
        <p:spPr>
          <a:xfrm>
            <a:off x="1412504" y="777160"/>
            <a:ext cx="745688" cy="51090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lang="en-US" sz="3200" b="1" dirty="0">
                <a:solidFill>
                  <a:srgbClr val="22272B"/>
                </a:solidFill>
                <a:latin typeface="Arial"/>
              </a:rPr>
              <a:t>a</a:t>
            </a:r>
            <a:endParaRPr sz="1600" b="1" dirty="0">
              <a:solidFill>
                <a:srgbClr val="22272B"/>
              </a:solidFill>
              <a:latin typeface="Arial"/>
            </a:endParaRPr>
          </a:p>
        </p:txBody>
      </p:sp>
      <p:sp>
        <p:nvSpPr>
          <p:cNvPr id="11" name="TextBox 130">
            <a:extLst>
              <a:ext uri="{FF2B5EF4-FFF2-40B4-BE49-F238E27FC236}">
                <a16:creationId xmlns:a16="http://schemas.microsoft.com/office/drawing/2014/main" id="{42D623E9-B606-EBA7-A6C1-193DC62B7E10}"/>
              </a:ext>
            </a:extLst>
          </p:cNvPr>
          <p:cNvSpPr txBox="1"/>
          <p:nvPr/>
        </p:nvSpPr>
        <p:spPr>
          <a:xfrm>
            <a:off x="1412504" y="4517722"/>
            <a:ext cx="745688" cy="51090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lang="en-US" sz="3200" b="1" dirty="0">
                <a:solidFill>
                  <a:srgbClr val="22272B"/>
                </a:solidFill>
                <a:latin typeface="Arial"/>
              </a:rPr>
              <a:t>b</a:t>
            </a:r>
            <a:endParaRPr sz="1600" b="1" dirty="0">
              <a:solidFill>
                <a:srgbClr val="22272B"/>
              </a:solidFill>
              <a:latin typeface="Arial"/>
            </a:endParaRPr>
          </a:p>
        </p:txBody>
      </p:sp>
      <p:sp>
        <p:nvSpPr>
          <p:cNvPr id="13" name="TextBox 130">
            <a:extLst>
              <a:ext uri="{FF2B5EF4-FFF2-40B4-BE49-F238E27FC236}">
                <a16:creationId xmlns:a16="http://schemas.microsoft.com/office/drawing/2014/main" id="{40BA0533-5370-B1DB-E2D6-43782CC2DD9D}"/>
              </a:ext>
            </a:extLst>
          </p:cNvPr>
          <p:cNvSpPr txBox="1"/>
          <p:nvPr/>
        </p:nvSpPr>
        <p:spPr>
          <a:xfrm>
            <a:off x="7044436" y="4517722"/>
            <a:ext cx="745688" cy="51090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lang="en-US" sz="3200" b="1" dirty="0">
                <a:solidFill>
                  <a:srgbClr val="22272B"/>
                </a:solidFill>
                <a:latin typeface="Arial"/>
              </a:rPr>
              <a:t>c</a:t>
            </a:r>
            <a:endParaRPr sz="1600" b="1" dirty="0">
              <a:solidFill>
                <a:srgbClr val="22272B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700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C0903-A2DE-9AE0-C1EF-0ECDE83E7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36F9601-36AA-9A46-A8F2-17A22015C7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33"/>
          <a:stretch>
            <a:fillRect/>
          </a:stretch>
        </p:blipFill>
        <p:spPr>
          <a:xfrm>
            <a:off x="709749" y="985775"/>
            <a:ext cx="10110888" cy="366680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FCD2BA6-9595-0CF4-73DB-13AB514ACC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7408"/>
          <a:stretch>
            <a:fillRect/>
          </a:stretch>
        </p:blipFill>
        <p:spPr>
          <a:xfrm rot="5400000">
            <a:off x="1847460" y="-1061752"/>
            <a:ext cx="269439" cy="366680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56AA59D-6A24-C309-7012-1C951E651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660" y="5265342"/>
            <a:ext cx="4284254" cy="366680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9974A28-889A-75CB-8616-5B99A29045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4829" b="20967"/>
          <a:stretch>
            <a:fillRect/>
          </a:stretch>
        </p:blipFill>
        <p:spPr>
          <a:xfrm rot="5400000">
            <a:off x="8559065" y="3451607"/>
            <a:ext cx="310029" cy="289797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A2CCCCAC-6FA1-DA39-2467-23163D19FC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6451" y="4724206"/>
            <a:ext cx="3100047" cy="360687"/>
          </a:xfrm>
          <a:prstGeom prst="rect">
            <a:avLst/>
          </a:prstGeom>
        </p:spPr>
      </p:pic>
      <p:sp>
        <p:nvSpPr>
          <p:cNvPr id="21" name="TextBox 130">
            <a:extLst>
              <a:ext uri="{FF2B5EF4-FFF2-40B4-BE49-F238E27FC236}">
                <a16:creationId xmlns:a16="http://schemas.microsoft.com/office/drawing/2014/main" id="{70EB4C87-C08A-AA1D-24F1-D42EA78AAD61}"/>
              </a:ext>
            </a:extLst>
          </p:cNvPr>
          <p:cNvSpPr txBox="1"/>
          <p:nvPr/>
        </p:nvSpPr>
        <p:spPr>
          <a:xfrm>
            <a:off x="826718" y="435164"/>
            <a:ext cx="745688" cy="51090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lang="en-US" sz="3200" b="1" dirty="0">
                <a:solidFill>
                  <a:srgbClr val="22272B"/>
                </a:solidFill>
                <a:latin typeface="Arial"/>
              </a:rPr>
              <a:t>a</a:t>
            </a:r>
            <a:endParaRPr sz="1600" b="1" dirty="0">
              <a:solidFill>
                <a:srgbClr val="22272B"/>
              </a:solidFill>
              <a:latin typeface="Arial"/>
            </a:endParaRPr>
          </a:p>
        </p:txBody>
      </p:sp>
      <p:sp>
        <p:nvSpPr>
          <p:cNvPr id="23" name="TextBox 130">
            <a:extLst>
              <a:ext uri="{FF2B5EF4-FFF2-40B4-BE49-F238E27FC236}">
                <a16:creationId xmlns:a16="http://schemas.microsoft.com/office/drawing/2014/main" id="{5DA9A4A6-F9B1-8B10-03C0-7ACA4EDF1B46}"/>
              </a:ext>
            </a:extLst>
          </p:cNvPr>
          <p:cNvSpPr txBox="1"/>
          <p:nvPr/>
        </p:nvSpPr>
        <p:spPr>
          <a:xfrm>
            <a:off x="826718" y="4581099"/>
            <a:ext cx="745688" cy="51090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lang="en-US" sz="3200" b="1" dirty="0">
                <a:solidFill>
                  <a:srgbClr val="22272B"/>
                </a:solidFill>
                <a:latin typeface="Arial"/>
              </a:rPr>
              <a:t>b</a:t>
            </a:r>
            <a:endParaRPr sz="1600" b="1" dirty="0">
              <a:solidFill>
                <a:srgbClr val="22272B"/>
              </a:solidFill>
              <a:latin typeface="Arial"/>
            </a:endParaRPr>
          </a:p>
        </p:txBody>
      </p:sp>
      <p:sp>
        <p:nvSpPr>
          <p:cNvPr id="25" name="TextBox 130">
            <a:extLst>
              <a:ext uri="{FF2B5EF4-FFF2-40B4-BE49-F238E27FC236}">
                <a16:creationId xmlns:a16="http://schemas.microsoft.com/office/drawing/2014/main" id="{C2EABA57-8A8D-0A74-3BE7-5377B7FB0043}"/>
              </a:ext>
            </a:extLst>
          </p:cNvPr>
          <p:cNvSpPr txBox="1"/>
          <p:nvPr/>
        </p:nvSpPr>
        <p:spPr>
          <a:xfrm>
            <a:off x="6657181" y="4592907"/>
            <a:ext cx="745688" cy="51090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lang="en-US" sz="3200" b="1" dirty="0">
                <a:solidFill>
                  <a:srgbClr val="22272B"/>
                </a:solidFill>
                <a:latin typeface="Arial"/>
              </a:rPr>
              <a:t>c</a:t>
            </a:r>
            <a:endParaRPr sz="1600" b="1" dirty="0">
              <a:solidFill>
                <a:srgbClr val="22272B"/>
              </a:solidFill>
              <a:latin typeface="Arial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D0148C-4797-56DE-8BF9-9892C0F9A33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7887"/>
          <a:stretch>
            <a:fillRect/>
          </a:stretch>
        </p:blipFill>
        <p:spPr>
          <a:xfrm>
            <a:off x="6375210" y="5055608"/>
            <a:ext cx="4585311" cy="378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361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920</TotalTime>
  <Words>283</Words>
  <Application>Microsoft Office PowerPoint</Application>
  <PresentationFormat>自定义</PresentationFormat>
  <Paragraphs>101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Zisen Zhou</dc:creator>
  <cp:keywords/>
  <dc:description>generated using python-pptx</dc:description>
  <cp:lastModifiedBy>Zisen Zhou</cp:lastModifiedBy>
  <cp:revision>7</cp:revision>
  <dcterms:created xsi:type="dcterms:W3CDTF">2013-01-27T09:14:16Z</dcterms:created>
  <dcterms:modified xsi:type="dcterms:W3CDTF">2026-10-05T04:35:49Z</dcterms:modified>
  <cp:category/>
</cp:coreProperties>
</file>